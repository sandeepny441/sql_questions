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c4b52d9400436b" /><Relationship Type="http://schemas.openxmlformats.org/officeDocument/2006/relationships/extended-properties" Target="/docProps/app.xml" Id="R66ca38c5029647fb" /><Relationship Type="http://schemas.openxmlformats.org/officeDocument/2006/relationships/officeDocument" Target="/ppt/presentation.xml" Id="R179ebe0423444f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38abaea897418a"/>
  </p:sldMasterIdLst>
  <p:notesMasterIdLst>
    <p:notesMasterId xmlns:r="http://schemas.openxmlformats.org/officeDocument/2006/relationships" r:id="Rc3f2bb9709324380"/>
  </p:notesMasterIdLst>
  <p:sldIdLst>
    <p:sldId xmlns:r="http://schemas.openxmlformats.org/officeDocument/2006/relationships" id="256" r:id="Rc7af8c63d6d243d9"/>
    <p:sldId xmlns:r="http://schemas.openxmlformats.org/officeDocument/2006/relationships" id="257" r:id="R0ea97cc5fe25415b"/>
    <p:sldId xmlns:r="http://schemas.openxmlformats.org/officeDocument/2006/relationships" id="258" r:id="Rf20eaf0b557a4fcf"/>
    <p:sldId xmlns:r="http://schemas.openxmlformats.org/officeDocument/2006/relationships" id="259" r:id="R45a1ec1e8ebb49cf"/>
    <p:sldId xmlns:r="http://schemas.openxmlformats.org/officeDocument/2006/relationships" id="260" r:id="R1aa963b654ec456a"/>
    <p:sldId xmlns:r="http://schemas.openxmlformats.org/officeDocument/2006/relationships" id="261" r:id="R77f34f28aa4342cd"/>
    <p:sldId xmlns:r="http://schemas.openxmlformats.org/officeDocument/2006/relationships" id="262" r:id="Rb768ab8f5d14477b"/>
    <p:sldId xmlns:r="http://schemas.openxmlformats.org/officeDocument/2006/relationships" id="263" r:id="Rc0d0166fe25941cc"/>
    <p:sldId xmlns:r="http://schemas.openxmlformats.org/officeDocument/2006/relationships" id="264" r:id="R72f3cc33a0b94874"/>
    <p:sldId xmlns:r="http://schemas.openxmlformats.org/officeDocument/2006/relationships" id="265" r:id="R4d4d31dee5464e4d"/>
    <p:sldId xmlns:r="http://schemas.openxmlformats.org/officeDocument/2006/relationships" id="266" r:id="R1fb3bac621d24202"/>
    <p:sldId xmlns:r="http://schemas.openxmlformats.org/officeDocument/2006/relationships" id="267" r:id="Ra805321d396e4f08"/>
    <p:sldId xmlns:r="http://schemas.openxmlformats.org/officeDocument/2006/relationships" id="268" r:id="R8e87e0b048ca468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4684cfdf0743bc" /><Relationship Type="http://schemas.openxmlformats.org/officeDocument/2006/relationships/slideMaster" Target="/ppt/slideMasters/slideMaster1.xml" Id="Rf238abaea897418a" /><Relationship Type="http://schemas.openxmlformats.org/officeDocument/2006/relationships/notesMaster" Target="/ppt/notesMasters/notesMaster1.xml" Id="Rc3f2bb9709324380" /><Relationship Type="http://schemas.openxmlformats.org/officeDocument/2006/relationships/presProps" Target="/ppt/presProps.xml" Id="R53a02dfa4ad54262" /><Relationship Type="http://schemas.openxmlformats.org/officeDocument/2006/relationships/tableStyles" Target="/ppt/tableStyles.xml" Id="R654be60d16fa42c9" /><Relationship Type="http://schemas.openxmlformats.org/officeDocument/2006/relationships/slide" Target="/ppt/slides/slide1.xml" Id="Rc7af8c63d6d243d9" /><Relationship Type="http://schemas.openxmlformats.org/officeDocument/2006/relationships/slide" Target="/ppt/slides/slide2.xml" Id="R0ea97cc5fe25415b" /><Relationship Type="http://schemas.openxmlformats.org/officeDocument/2006/relationships/slide" Target="/ppt/slides/slide3.xml" Id="Rf20eaf0b557a4fcf" /><Relationship Type="http://schemas.openxmlformats.org/officeDocument/2006/relationships/slide" Target="/ppt/slides/slide4.xml" Id="R45a1ec1e8ebb49cf" /><Relationship Type="http://schemas.openxmlformats.org/officeDocument/2006/relationships/slide" Target="/ppt/slides/slide5.xml" Id="R1aa963b654ec456a" /><Relationship Type="http://schemas.openxmlformats.org/officeDocument/2006/relationships/slide" Target="/ppt/slides/slide6.xml" Id="R77f34f28aa4342cd" /><Relationship Type="http://schemas.openxmlformats.org/officeDocument/2006/relationships/slide" Target="/ppt/slides/slide7.xml" Id="Rb768ab8f5d14477b" /><Relationship Type="http://schemas.openxmlformats.org/officeDocument/2006/relationships/slide" Target="/ppt/slides/slide8.xml" Id="Rc0d0166fe25941cc" /><Relationship Type="http://schemas.openxmlformats.org/officeDocument/2006/relationships/slide" Target="/ppt/slides/slide9.xml" Id="R72f3cc33a0b94874" /><Relationship Type="http://schemas.openxmlformats.org/officeDocument/2006/relationships/slide" Target="/ppt/slides/slide10.xml" Id="R4d4d31dee5464e4d" /><Relationship Type="http://schemas.openxmlformats.org/officeDocument/2006/relationships/slide" Target="/ppt/slides/slide11.xml" Id="R1fb3bac621d24202" /><Relationship Type="http://schemas.openxmlformats.org/officeDocument/2006/relationships/slide" Target="/ppt/slides/slide12.xml" Id="Ra805321d396e4f08" /><Relationship Type="http://schemas.openxmlformats.org/officeDocument/2006/relationships/slide" Target="/ppt/slides/slide13.xml" Id="R8e87e0b048ca46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3f243e85e140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4d4919e6324c71" /><Relationship Type="http://schemas.openxmlformats.org/officeDocument/2006/relationships/notesMaster" Target="/ppt/notesMasters/notesMaster1.xml" Id="R5b599fea89c14c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3a19719bbb4ab3" /><Relationship Type="http://schemas.openxmlformats.org/officeDocument/2006/relationships/notesMaster" Target="/ppt/notesMasters/notesMaster1.xml" Id="R34b9567862e240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bbf57796604923" /><Relationship Type="http://schemas.openxmlformats.org/officeDocument/2006/relationships/notesMaster" Target="/ppt/notesMasters/notesMaster1.xml" Id="Rd6c1c148274147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58604d7d6c4d8c" /><Relationship Type="http://schemas.openxmlformats.org/officeDocument/2006/relationships/notesMaster" Target="/ppt/notesMasters/notesMaster1.xml" Id="R9adea920d75e44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666391428c4251" /><Relationship Type="http://schemas.openxmlformats.org/officeDocument/2006/relationships/notesMaster" Target="/ppt/notesMasters/notesMaster1.xml" Id="R2a4adad06d0946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04383d5bf34bf4" /><Relationship Type="http://schemas.openxmlformats.org/officeDocument/2006/relationships/notesMaster" Target="/ppt/notesMasters/notesMaster1.xml" Id="R645cadfed3e84f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3487f0d7884a69" /><Relationship Type="http://schemas.openxmlformats.org/officeDocument/2006/relationships/notesMaster" Target="/ppt/notesMasters/notesMaster1.xml" Id="Rb4476f50f45345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464e48d16d4c50" /><Relationship Type="http://schemas.openxmlformats.org/officeDocument/2006/relationships/notesMaster" Target="/ppt/notesMasters/notesMaster1.xml" Id="R32b1e14cd0a74d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b0ca0248fe42cc" /><Relationship Type="http://schemas.openxmlformats.org/officeDocument/2006/relationships/notesMaster" Target="/ppt/notesMasters/notesMaster1.xml" Id="Rb8c5c6fd395d4b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ca9ba7e9c14d53" /><Relationship Type="http://schemas.openxmlformats.org/officeDocument/2006/relationships/notesMaster" Target="/ppt/notesMasters/notesMaster1.xml" Id="R26c2a6b4dcec4d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4ac0ead51d4983" /><Relationship Type="http://schemas.openxmlformats.org/officeDocument/2006/relationships/notesMaster" Target="/ppt/notesMasters/notesMaster1.xml" Id="R3a23df412f784f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031b98f414419c" /><Relationship Type="http://schemas.openxmlformats.org/officeDocument/2006/relationships/notesMaster" Target="/ppt/notesMasters/notesMaster1.xml" Id="R05e44b101b324e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c2f97d456e4cdc" /><Relationship Type="http://schemas.openxmlformats.org/officeDocument/2006/relationships/notesMaster" Target="/ppt/notesMasters/notesMaster1.xml" Id="R35832f7c466544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732e2a29a49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6cd838224044b5" /><Relationship Type="http://schemas.openxmlformats.org/officeDocument/2006/relationships/slideLayout" Target="/ppt/slideLayouts/slideLayout1.xml" Id="Rcd0427e64ea34a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0427e64ea34a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ea6d74b1b466d" /><Relationship Type="http://schemas.openxmlformats.org/officeDocument/2006/relationships/notesSlide" Target="/ppt/notesSlides/notesSlide1.xml" Id="R888d271021c345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4b3b2c6404866" /><Relationship Type="http://schemas.openxmlformats.org/officeDocument/2006/relationships/notesSlide" Target="/ppt/notesSlides/notesSlide2.xml" Id="R381248ae50ef46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5de606ae549ac" /><Relationship Type="http://schemas.openxmlformats.org/officeDocument/2006/relationships/notesSlide" Target="/ppt/notesSlides/notesSlide3.xml" Id="R43b826f3138741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385f16d5a4442" /><Relationship Type="http://schemas.openxmlformats.org/officeDocument/2006/relationships/notesSlide" Target="/ppt/notesSlides/notesSlide4.xml" Id="Rf0ada816871743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3a696ea0d4a74" /><Relationship Type="http://schemas.openxmlformats.org/officeDocument/2006/relationships/notesSlide" Target="/ppt/notesSlides/notesSlide5.xml" Id="R7e10bc3fc67543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93efd9d3c4d5a" /><Relationship Type="http://schemas.openxmlformats.org/officeDocument/2006/relationships/notesSlide" Target="/ppt/notesSlides/notesSlide6.xml" Id="Rc66e9ad83a564a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9c19fe9764cb7" /><Relationship Type="http://schemas.openxmlformats.org/officeDocument/2006/relationships/notesSlide" Target="/ppt/notesSlides/notesSlide7.xml" Id="R97964c25dead45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c955dd1ef48ca" /><Relationship Type="http://schemas.openxmlformats.org/officeDocument/2006/relationships/notesSlide" Target="/ppt/notesSlides/notesSlide8.xml" Id="Rba48fe56835647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6461d38c641c4" /><Relationship Type="http://schemas.openxmlformats.org/officeDocument/2006/relationships/notesSlide" Target="/ppt/notesSlides/notesSlide9.xml" Id="Rbc8c99160ed748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f1b3ea9584d13" /><Relationship Type="http://schemas.openxmlformats.org/officeDocument/2006/relationships/notesSlide" Target="/ppt/notesSlides/notesSlide10.xml" Id="Rf6b2e3dd3fde42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18da668c64a11" /><Relationship Type="http://schemas.openxmlformats.org/officeDocument/2006/relationships/notesSlide" Target="/ppt/notesSlides/notesSlide11.xml" Id="R04da28e0d6274b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dfd54cab7490b" /><Relationship Type="http://schemas.openxmlformats.org/officeDocument/2006/relationships/notesSlide" Target="/ppt/notesSlides/notesSlide12.xml" Id="R19bc391e555041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210c968194c4e" /><Relationship Type="http://schemas.openxmlformats.org/officeDocument/2006/relationships/notesSlide" Target="/ppt/notesSlides/notesSlide13.xml" Id="Rd0f95a3f2ad34f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vate-strip">
            <a:extLst xmlns:a="http://schemas.openxmlformats.org/drawingml/2006/main">
              <a:ext uri="{FF2B5EF4-FFF2-40B4-BE49-F238E27FC236}">
                <a16:creationId xmlns:a16="http://schemas.microsoft.com/office/drawing/2014/main" id="{7E1ADFC0-2460-4774-802A-04EAC39E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ivate-label">
            <a:extLst xmlns:a="http://schemas.openxmlformats.org/drawingml/2006/main">
              <a:ext uri="{FF2B5EF4-FFF2-40B4-BE49-F238E27FC236}">
                <a16:creationId xmlns:a16="http://schemas.microsoft.com/office/drawing/2014/main" id="{FDEE3A05-A971-442D-9B8C-9F86F8C7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PRESENTER VIEW</a:t>
            </a:r>
          </a:p>
        </p:txBody>
      </p:sp>
      <p:sp>
        <p:nvSpPr>
          <p:cNvPr id="3" name="private-num">
            <a:extLst xmlns:a="http://schemas.openxmlformats.org/drawingml/2006/main">
              <a:ext uri="{FF2B5EF4-FFF2-40B4-BE49-F238E27FC236}">
                <a16:creationId xmlns:a16="http://schemas.microsoft.com/office/drawing/2014/main" id="{5800E9A7-831F-4DC2-B3F2-16FF7FBB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"/>
            <a:ext cx="188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Audience slide 01 / 13</a:t>
            </a:r>
          </a:p>
        </p:txBody>
      </p:sp>
      <p:sp>
        <p:nvSpPr>
          <p:cNvPr id="4" name="presenter-title">
            <a:extLst xmlns:a="http://schemas.openxmlformats.org/drawingml/2006/main">
              <a:ext uri="{FF2B5EF4-FFF2-40B4-BE49-F238E27FC236}">
                <a16:creationId xmlns:a16="http://schemas.microsoft.com/office/drawing/2014/main" id="{74BCD985-892F-4CD7-AE29-CA282F8D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"/>
            <a:ext cx="114109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Mortgage Screening Is a Control System</a:t>
            </a:r>
          </a:p>
        </p:txBody>
      </p:sp>
      <p:sp>
        <p:nvSpPr>
          <p:cNvPr id="5" name="presenter-subtitle">
            <a:extLst xmlns:a="http://schemas.openxmlformats.org/drawingml/2006/main">
              <a:ext uri="{FF2B5EF4-FFF2-40B4-BE49-F238E27FC236}">
                <a16:creationId xmlns:a16="http://schemas.microsoft.com/office/drawing/2014/main" id="{203FF0D7-C93F-46AF-AE6F-DFA1A951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971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It asks whether the lender can transact, approve, close, deliver, service, and document the loan cleanly.</a:t>
            </a:r>
          </a:p>
        </p:txBody>
      </p:sp>
      <p:sp>
        <p:nvSpPr>
          <p:cNvPr id="6" name="key-panel">
            <a:extLst xmlns:a="http://schemas.openxmlformats.org/drawingml/2006/main">
              <a:ext uri="{FF2B5EF4-FFF2-40B4-BE49-F238E27FC236}">
                <a16:creationId xmlns:a16="http://schemas.microsoft.com/office/drawing/2014/main" id="{D862D608-CE82-4606-ACAB-D73DFB1D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3543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ey-label">
            <a:extLst xmlns:a="http://schemas.openxmlformats.org/drawingml/2006/main">
              <a:ext uri="{FF2B5EF4-FFF2-40B4-BE49-F238E27FC236}">
                <a16:creationId xmlns:a16="http://schemas.microsoft.com/office/drawing/2014/main" id="{5B9CEDB0-F625-47F5-A722-F786458F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KEY MESSAGE</a:t>
            </a:r>
          </a:p>
        </p:txBody>
      </p:sp>
      <p:sp>
        <p:nvSpPr>
          <p:cNvPr id="8" name="key-body">
            <a:extLst xmlns:a="http://schemas.openxmlformats.org/drawingml/2006/main">
              <a:ext uri="{FF2B5EF4-FFF2-40B4-BE49-F238E27FC236}">
                <a16:creationId xmlns:a16="http://schemas.microsoft.com/office/drawing/2014/main" id="{CEE7A152-A267-4303-9758-4A8370F4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95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Frame screening as a control system, not as a single blacklist lookup.</a:t>
            </a:r>
          </a:p>
        </p:txBody>
      </p:sp>
      <p:sp>
        <p:nvSpPr>
          <p:cNvPr id="9" name="say-panel">
            <a:extLst xmlns:a="http://schemas.openxmlformats.org/drawingml/2006/main">
              <a:ext uri="{FF2B5EF4-FFF2-40B4-BE49-F238E27FC236}">
                <a16:creationId xmlns:a16="http://schemas.microsoft.com/office/drawing/2014/main" id="{5825A3E1-7387-4C0C-A4C1-0BD2B752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ay-label">
            <a:extLst xmlns:a="http://schemas.openxmlformats.org/drawingml/2006/main">
              <a:ext uri="{FF2B5EF4-FFF2-40B4-BE49-F238E27FC236}">
                <a16:creationId xmlns:a16="http://schemas.microsoft.com/office/drawing/2014/main" id="{594027EF-66C9-4C1C-B76E-FF1DCD50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TALK TRACK</a:t>
            </a:r>
          </a:p>
        </p:txBody>
      </p:sp>
      <p:sp>
        <p:nvSpPr>
          <p:cNvPr id="11" name="say-body">
            <a:extLst xmlns:a="http://schemas.openxmlformats.org/drawingml/2006/main">
              <a:ext uri="{FF2B5EF4-FFF2-40B4-BE49-F238E27FC236}">
                <a16:creationId xmlns:a16="http://schemas.microsoft.com/office/drawing/2014/main" id="{F030B13B-656F-4F4A-9372-0EB54BAD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Open with the one-sentence model from the briefing.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The lender is asking more than repayment and collateral questions.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The point is to separate legal permission, program eligibility, fraud risk, licensing authority, and post-close obligations.</a:t>
            </a:r>
          </a:p>
        </p:txBody>
      </p:sp>
      <p:sp>
        <p:nvSpPr>
          <p:cNvPr id="12" name="detail-panel">
            <a:extLst xmlns:a="http://schemas.openxmlformats.org/drawingml/2006/main">
              <a:ext uri="{FF2B5EF4-FFF2-40B4-BE49-F238E27FC236}">
                <a16:creationId xmlns:a16="http://schemas.microsoft.com/office/drawing/2014/main" id="{1440C596-9F00-445F-AE20-4DF3FDC1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96D81FB8-F19D-412B-A1F6-C7B1AA9A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DETAILS / CAUTIONS</a:t>
            </a:r>
          </a:p>
        </p:txBody>
      </p:sp>
      <p:sp>
        <p:nvSpPr>
          <p:cNvPr id="14" name="detail-body">
            <a:extLst xmlns:a="http://schemas.openxmlformats.org/drawingml/2006/main">
              <a:ext uri="{FF2B5EF4-FFF2-40B4-BE49-F238E27FC236}">
                <a16:creationId xmlns:a16="http://schemas.microsoft.com/office/drawing/2014/main" id="{CC522C9C-55CF-4071-BFDB-D70A6D9D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This is intuition-first training material, not legal advice or a substitute for policy, counsel, investor guides, or vendor procedures.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Audience response: understand why different screens have different consequences.</a:t>
            </a:r>
          </a:p>
        </p:txBody>
      </p:sp>
      <p:sp>
        <p:nvSpPr>
          <p:cNvPr id="15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ADD3E5C1-F152-43D7-B7DA-B4C1A94A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88545A38-6310-4952-A8F9-E5335BDA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SOURCE ANCHOR</a:t>
            </a:r>
          </a:p>
        </p:txBody>
      </p:sp>
      <p:sp>
        <p:nvSpPr>
          <p:cNvPr id="17" name="source-body">
            <a:extLst xmlns:a="http://schemas.openxmlformats.org/drawingml/2006/main">
              <a:ext uri="{FF2B5EF4-FFF2-40B4-BE49-F238E27FC236}">
                <a16:creationId xmlns:a16="http://schemas.microsoft.com/office/drawing/2014/main" id="{5CD4CD89-0418-4C16-AD22-4DDE23BA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README.md and 01-landscape.md</a:t>
            </a:r>
          </a:p>
        </p:txBody>
      </p:sp>
      <p:sp>
        <p:nvSpPr>
          <p:cNvPr id="18" name="next-panel">
            <a:extLst xmlns:a="http://schemas.openxmlformats.org/drawingml/2006/main">
              <a:ext uri="{FF2B5EF4-FFF2-40B4-BE49-F238E27FC236}">
                <a16:creationId xmlns:a16="http://schemas.microsoft.com/office/drawing/2014/main" id="{32D2AC53-6625-44DC-97F3-72D96BFF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1485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next-label">
            <a:extLst xmlns:a="http://schemas.openxmlformats.org/drawingml/2006/main">
              <a:ext uri="{FF2B5EF4-FFF2-40B4-BE49-F238E27FC236}">
                <a16:creationId xmlns:a16="http://schemas.microsoft.com/office/drawing/2014/main" id="{BDCD693C-0B72-4534-B379-4898FFAE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NEXT CUE</a:t>
            </a:r>
          </a:p>
        </p:txBody>
      </p:sp>
      <p:sp>
        <p:nvSpPr>
          <p:cNvPr id="20" name="next-body">
            <a:extLst xmlns:a="http://schemas.openxmlformats.org/drawingml/2006/main">
              <a:ext uri="{FF2B5EF4-FFF2-40B4-BE49-F238E27FC236}">
                <a16:creationId xmlns:a16="http://schemas.microsoft.com/office/drawing/2014/main" id="{329F8675-0F5E-416F-99B9-861D5A61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087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Move from the big idea to the four control questions.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AA1664E-CF9F-4DF4-AA60-8909ECBF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PRESENTER INFO - keep this deck on the private monitor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4038B20-2735-4210-B767-850FC3BF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/ 13</a:t>
            </a:r>
          </a:p>
        </p:txBody>
      </p:sp>
    </p:spTree>
    <p:extLst>
      <p:ext uri="{BB962C8B-B14F-4D97-AF65-F5344CB8AC3E}">
        <p14:creationId xmlns:p14="http://schemas.microsoft.com/office/powerpoint/2010/main" val="6587523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vate-strip">
            <a:extLst xmlns:a="http://schemas.openxmlformats.org/drawingml/2006/main">
              <a:ext uri="{FF2B5EF4-FFF2-40B4-BE49-F238E27FC236}">
                <a16:creationId xmlns:a16="http://schemas.microsoft.com/office/drawing/2014/main" id="{307C52E1-3123-44B5-955B-742D4729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ivate-label">
            <a:extLst xmlns:a="http://schemas.openxmlformats.org/drawingml/2006/main">
              <a:ext uri="{FF2B5EF4-FFF2-40B4-BE49-F238E27FC236}">
                <a16:creationId xmlns:a16="http://schemas.microsoft.com/office/drawing/2014/main" id="{464E2F78-0BF2-452D-96C0-51819D82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PRESENTER VIEW</a:t>
            </a:r>
          </a:p>
        </p:txBody>
      </p:sp>
      <p:sp>
        <p:nvSpPr>
          <p:cNvPr id="3" name="private-num">
            <a:extLst xmlns:a="http://schemas.openxmlformats.org/drawingml/2006/main">
              <a:ext uri="{FF2B5EF4-FFF2-40B4-BE49-F238E27FC236}">
                <a16:creationId xmlns:a16="http://schemas.microsoft.com/office/drawing/2014/main" id="{72B1C467-3715-46C1-91DC-6726D6FA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"/>
            <a:ext cx="188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Audience slide 02 / 13</a:t>
            </a:r>
          </a:p>
        </p:txBody>
      </p:sp>
      <p:sp>
        <p:nvSpPr>
          <p:cNvPr id="4" name="presenter-title">
            <a:extLst xmlns:a="http://schemas.openxmlformats.org/drawingml/2006/main">
              <a:ext uri="{FF2B5EF4-FFF2-40B4-BE49-F238E27FC236}">
                <a16:creationId xmlns:a16="http://schemas.microsoft.com/office/drawing/2014/main" id="{BE576108-77A9-4BB8-8CE9-B8A1672D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"/>
            <a:ext cx="114109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Four Questions Drive the Screening Landscape</a:t>
            </a:r>
          </a:p>
        </p:txBody>
      </p:sp>
      <p:sp>
        <p:nvSpPr>
          <p:cNvPr id="5" name="presenter-subtitle">
            <a:extLst xmlns:a="http://schemas.openxmlformats.org/drawingml/2006/main">
              <a:ext uri="{FF2B5EF4-FFF2-40B4-BE49-F238E27FC236}">
                <a16:creationId xmlns:a16="http://schemas.microsoft.com/office/drawing/2014/main" id="{998112A0-0219-40E9-A368-EBACAD2A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971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The file stays clean only when each control question has an answer.</a:t>
            </a:r>
          </a:p>
        </p:txBody>
      </p:sp>
      <p:sp>
        <p:nvSpPr>
          <p:cNvPr id="6" name="key-panel">
            <a:extLst xmlns:a="http://schemas.openxmlformats.org/drawingml/2006/main">
              <a:ext uri="{FF2B5EF4-FFF2-40B4-BE49-F238E27FC236}">
                <a16:creationId xmlns:a16="http://schemas.microsoft.com/office/drawing/2014/main" id="{113E493D-57E5-49C5-B4DD-A23FCBEC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3543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ey-label">
            <a:extLst xmlns:a="http://schemas.openxmlformats.org/drawingml/2006/main">
              <a:ext uri="{FF2B5EF4-FFF2-40B4-BE49-F238E27FC236}">
                <a16:creationId xmlns:a16="http://schemas.microsoft.com/office/drawing/2014/main" id="{CE06F103-6BDF-4DAE-9D5C-BC80C777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KEY MESSAGE</a:t>
            </a:r>
          </a:p>
        </p:txBody>
      </p:sp>
      <p:sp>
        <p:nvSpPr>
          <p:cNvPr id="8" name="key-body">
            <a:extLst xmlns:a="http://schemas.openxmlformats.org/drawingml/2006/main">
              <a:ext uri="{FF2B5EF4-FFF2-40B4-BE49-F238E27FC236}">
                <a16:creationId xmlns:a16="http://schemas.microsoft.com/office/drawing/2014/main" id="{5B3B301A-32D3-4024-852B-6FC9DA21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95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these four questions as the organizing scaffold for the whole presentation.</a:t>
            </a:r>
          </a:p>
        </p:txBody>
      </p:sp>
      <p:sp>
        <p:nvSpPr>
          <p:cNvPr id="9" name="say-panel">
            <a:extLst xmlns:a="http://schemas.openxmlformats.org/drawingml/2006/main">
              <a:ext uri="{FF2B5EF4-FFF2-40B4-BE49-F238E27FC236}">
                <a16:creationId xmlns:a16="http://schemas.microsoft.com/office/drawing/2014/main" id="{F6C2E05E-E179-4559-AE4B-267FCD0B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ay-label">
            <a:extLst xmlns:a="http://schemas.openxmlformats.org/drawingml/2006/main">
              <a:ext uri="{FF2B5EF4-FFF2-40B4-BE49-F238E27FC236}">
                <a16:creationId xmlns:a16="http://schemas.microsoft.com/office/drawing/2014/main" id="{B7CB8E14-3D85-4971-83ED-66BC3738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TALK TRACK</a:t>
            </a:r>
          </a:p>
        </p:txBody>
      </p:sp>
      <p:sp>
        <p:nvSpPr>
          <p:cNvPr id="11" name="say-body">
            <a:extLst xmlns:a="http://schemas.openxmlformats.org/drawingml/2006/main">
              <a:ext uri="{FF2B5EF4-FFF2-40B4-BE49-F238E27FC236}">
                <a16:creationId xmlns:a16="http://schemas.microsoft.com/office/drawing/2014/main" id="{6C17A188-01E9-4A82-AE81-21E6B1DE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A mortgage screen answers operational permission questions.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Some controls are about the party, some about the loan program, and some about facts in the file.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Post-close controls matter because sanctions lists, parties, investor findings, and servicing facts can change.</a:t>
            </a:r>
          </a:p>
        </p:txBody>
      </p:sp>
      <p:sp>
        <p:nvSpPr>
          <p:cNvPr id="12" name="detail-panel">
            <a:extLst xmlns:a="http://schemas.openxmlformats.org/drawingml/2006/main">
              <a:ext uri="{FF2B5EF4-FFF2-40B4-BE49-F238E27FC236}">
                <a16:creationId xmlns:a16="http://schemas.microsoft.com/office/drawing/2014/main" id="{D83441A9-2C16-471C-8853-632E5933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A1D13DD1-FD3B-4AC3-A124-FB58CF8D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DETAILS / CAUTIONS</a:t>
            </a:r>
          </a:p>
        </p:txBody>
      </p:sp>
      <p:sp>
        <p:nvSpPr>
          <p:cNvPr id="14" name="detail-body">
            <a:extLst xmlns:a="http://schemas.openxmlformats.org/drawingml/2006/main">
              <a:ext uri="{FF2B5EF4-FFF2-40B4-BE49-F238E27FC236}">
                <a16:creationId xmlns:a16="http://schemas.microsoft.com/office/drawing/2014/main" id="{EDF5052C-592E-4434-96E9-410C5C99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Tie back to the README one-sentence version.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Avoid implying that one vendor report answers every question.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Reinforce that the exact scope depends on policy, product, investor, and rule.</a:t>
            </a:r>
          </a:p>
        </p:txBody>
      </p:sp>
      <p:sp>
        <p:nvSpPr>
          <p:cNvPr id="15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5A799D2F-3F96-47E5-983D-D09C4E11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2C0A1184-4AFF-49D5-A697-3C366223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SOURCE ANCHOR</a:t>
            </a:r>
          </a:p>
        </p:txBody>
      </p:sp>
      <p:sp>
        <p:nvSpPr>
          <p:cNvPr id="17" name="source-body">
            <a:extLst xmlns:a="http://schemas.openxmlformats.org/drawingml/2006/main">
              <a:ext uri="{FF2B5EF4-FFF2-40B4-BE49-F238E27FC236}">
                <a16:creationId xmlns:a16="http://schemas.microsoft.com/office/drawing/2014/main" id="{77829539-ACB5-45EF-A356-CC7DCADE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README.md and 05-when-to-screen.md</a:t>
            </a:r>
          </a:p>
        </p:txBody>
      </p:sp>
      <p:sp>
        <p:nvSpPr>
          <p:cNvPr id="18" name="next-panel">
            <a:extLst xmlns:a="http://schemas.openxmlformats.org/drawingml/2006/main">
              <a:ext uri="{FF2B5EF4-FFF2-40B4-BE49-F238E27FC236}">
                <a16:creationId xmlns:a16="http://schemas.microsoft.com/office/drawing/2014/main" id="{EB323AC2-956D-4D4D-B57C-621B4151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1485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next-label">
            <a:extLst xmlns:a="http://schemas.openxmlformats.org/drawingml/2006/main">
              <a:ext uri="{FF2B5EF4-FFF2-40B4-BE49-F238E27FC236}">
                <a16:creationId xmlns:a16="http://schemas.microsoft.com/office/drawing/2014/main" id="{4928D859-99E3-463C-9726-B0598695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NEXT CUE</a:t>
            </a:r>
          </a:p>
        </p:txBody>
      </p:sp>
      <p:sp>
        <p:nvSpPr>
          <p:cNvPr id="20" name="next-body">
            <a:extLst xmlns:a="http://schemas.openxmlformats.org/drawingml/2006/main">
              <a:ext uri="{FF2B5EF4-FFF2-40B4-BE49-F238E27FC236}">
                <a16:creationId xmlns:a16="http://schemas.microsoft.com/office/drawing/2014/main" id="{82D8F41E-E2C3-4F5E-8525-033FEB48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6770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Name the buckets so the audience has handles for each control.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C925FC-1FBF-472A-8BDF-6951272E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PRESENTER INFO - keep this deck on the private monitor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CE26A53-52F3-4097-BCF7-E70F2106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/ 13</a:t>
            </a:r>
          </a:p>
        </p:txBody>
      </p:sp>
    </p:spTree>
    <p:extLst>
      <p:ext uri="{BB962C8B-B14F-4D97-AF65-F5344CB8AC3E}">
        <p14:creationId xmlns:p14="http://schemas.microsoft.com/office/powerpoint/2010/main" val="2852530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vate-strip">
            <a:extLst xmlns:a="http://schemas.openxmlformats.org/drawingml/2006/main">
              <a:ext uri="{FF2B5EF4-FFF2-40B4-BE49-F238E27FC236}">
                <a16:creationId xmlns:a16="http://schemas.microsoft.com/office/drawing/2014/main" id="{20A301C2-AA89-49E0-9BFF-DD72FB33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ivate-label">
            <a:extLst xmlns:a="http://schemas.openxmlformats.org/drawingml/2006/main">
              <a:ext uri="{FF2B5EF4-FFF2-40B4-BE49-F238E27FC236}">
                <a16:creationId xmlns:a16="http://schemas.microsoft.com/office/drawing/2014/main" id="{DFA2E750-B335-43B0-B3EF-A22B442C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PRESENTER VIEW</a:t>
            </a:r>
          </a:p>
        </p:txBody>
      </p:sp>
      <p:sp>
        <p:nvSpPr>
          <p:cNvPr id="3" name="private-num">
            <a:extLst xmlns:a="http://schemas.openxmlformats.org/drawingml/2006/main">
              <a:ext uri="{FF2B5EF4-FFF2-40B4-BE49-F238E27FC236}">
                <a16:creationId xmlns:a16="http://schemas.microsoft.com/office/drawing/2014/main" id="{016B2595-32E1-4E09-833F-97FEA630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"/>
            <a:ext cx="188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Audience slide 03 / 13</a:t>
            </a:r>
          </a:p>
        </p:txBody>
      </p:sp>
      <p:sp>
        <p:nvSpPr>
          <p:cNvPr id="4" name="presenter-title">
            <a:extLst xmlns:a="http://schemas.openxmlformats.org/drawingml/2006/main">
              <a:ext uri="{FF2B5EF4-FFF2-40B4-BE49-F238E27FC236}">
                <a16:creationId xmlns:a16="http://schemas.microsoft.com/office/drawing/2014/main" id="{C4466189-6489-4AFE-B8E1-23841938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"/>
            <a:ext cx="114109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Each Screening Bucket Answers a Different Question</a:t>
            </a:r>
          </a:p>
        </p:txBody>
      </p:sp>
      <p:sp>
        <p:nvSpPr>
          <p:cNvPr id="5" name="presenter-subtitle">
            <a:extLst xmlns:a="http://schemas.openxmlformats.org/drawingml/2006/main">
              <a:ext uri="{FF2B5EF4-FFF2-40B4-BE49-F238E27FC236}">
                <a16:creationId xmlns:a16="http://schemas.microsoft.com/office/drawing/2014/main" id="{70C8796D-0D43-4315-9A72-56B2E7D0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971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The first classification decision shapes the next action.</a:t>
            </a:r>
          </a:p>
        </p:txBody>
      </p:sp>
      <p:sp>
        <p:nvSpPr>
          <p:cNvPr id="6" name="key-panel">
            <a:extLst xmlns:a="http://schemas.openxmlformats.org/drawingml/2006/main">
              <a:ext uri="{FF2B5EF4-FFF2-40B4-BE49-F238E27FC236}">
                <a16:creationId xmlns:a16="http://schemas.microsoft.com/office/drawing/2014/main" id="{8C75EFE5-D9E6-44BA-A305-013D2711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3543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ey-label">
            <a:extLst xmlns:a="http://schemas.openxmlformats.org/drawingml/2006/main">
              <a:ext uri="{FF2B5EF4-FFF2-40B4-BE49-F238E27FC236}">
                <a16:creationId xmlns:a16="http://schemas.microsoft.com/office/drawing/2014/main" id="{209C8255-14E1-4D0B-9D04-6A8BF354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KEY MESSAGE</a:t>
            </a:r>
          </a:p>
        </p:txBody>
      </p:sp>
      <p:sp>
        <p:nvSpPr>
          <p:cNvPr id="8" name="key-body">
            <a:extLst xmlns:a="http://schemas.openxmlformats.org/drawingml/2006/main">
              <a:ext uri="{FF2B5EF4-FFF2-40B4-BE49-F238E27FC236}">
                <a16:creationId xmlns:a16="http://schemas.microsoft.com/office/drawing/2014/main" id="{3EA596E0-8217-43EB-B855-5E16562E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95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This is the highest-value slide: different hit types create different workflows.</a:t>
            </a:r>
          </a:p>
        </p:txBody>
      </p:sp>
      <p:sp>
        <p:nvSpPr>
          <p:cNvPr id="9" name="say-panel">
            <a:extLst xmlns:a="http://schemas.openxmlformats.org/drawingml/2006/main">
              <a:ext uri="{FF2B5EF4-FFF2-40B4-BE49-F238E27FC236}">
                <a16:creationId xmlns:a16="http://schemas.microsoft.com/office/drawing/2014/main" id="{9D0FBD84-522A-4E16-A810-C2252B3F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ay-label">
            <a:extLst xmlns:a="http://schemas.openxmlformats.org/drawingml/2006/main">
              <a:ext uri="{FF2B5EF4-FFF2-40B4-BE49-F238E27FC236}">
                <a16:creationId xmlns:a16="http://schemas.microsoft.com/office/drawing/2014/main" id="{1FBD5A0D-886D-4B23-B541-6D315117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TALK TRACK</a:t>
            </a:r>
          </a:p>
        </p:txBody>
      </p:sp>
      <p:sp>
        <p:nvSpPr>
          <p:cNvPr id="11" name="say-body">
            <a:extLst xmlns:a="http://schemas.openxmlformats.org/drawingml/2006/main">
              <a:ext uri="{FF2B5EF4-FFF2-40B4-BE49-F238E27FC236}">
                <a16:creationId xmlns:a16="http://schemas.microsoft.com/office/drawing/2014/main" id="{35FFF038-136F-4F9C-886D-344DD9FA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Do not collapse all hits into a single idea of bad person or bad loan.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OFAC is legal restriction. Fraud tools are risk signals. CAIVRS is federal credit eligibility. NMLS is authority to originate.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The first move is classification, because the clearance standard is different by bucket.</a:t>
            </a:r>
          </a:p>
        </p:txBody>
      </p:sp>
      <p:sp>
        <p:nvSpPr>
          <p:cNvPr id="12" name="detail-panel">
            <a:extLst xmlns:a="http://schemas.openxmlformats.org/drawingml/2006/main">
              <a:ext uri="{FF2B5EF4-FFF2-40B4-BE49-F238E27FC236}">
                <a16:creationId xmlns:a16="http://schemas.microsoft.com/office/drawing/2014/main" id="{C1732B9D-3FE3-4CE1-9D92-31C157F6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8AAF71ED-4B07-4567-90BD-B4A44780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DETAILS / CAUTIONS</a:t>
            </a:r>
          </a:p>
        </p:txBody>
      </p:sp>
      <p:sp>
        <p:nvSpPr>
          <p:cNvPr id="14" name="detail-body">
            <a:extLst xmlns:a="http://schemas.openxmlformats.org/drawingml/2006/main">
              <a:ext uri="{FF2B5EF4-FFF2-40B4-BE49-F238E27FC236}">
                <a16:creationId xmlns:a16="http://schemas.microsoft.com/office/drawing/2014/main" id="{2BE7753B-9044-4448-8076-32B77BB4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OFAC true match can block or reject activity.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Fraud alert should not be a black-box decline; resolve facts and document.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Exclusion lists may be role-specific. A replacement party can sometimes cure the issue; a borrower eligibility issue usually cannot be solved that way.</a:t>
            </a:r>
          </a:p>
        </p:txBody>
      </p:sp>
      <p:sp>
        <p:nvSpPr>
          <p:cNvPr id="15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736847AB-8C33-482B-B7B8-4B30D40E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D0DDC0B0-6098-4393-8285-AA58A236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SOURCE ANCHOR</a:t>
            </a:r>
          </a:p>
        </p:txBody>
      </p:sp>
      <p:sp>
        <p:nvSpPr>
          <p:cNvPr id="17" name="source-body">
            <a:extLst xmlns:a="http://schemas.openxmlformats.org/drawingml/2006/main">
              <a:ext uri="{FF2B5EF4-FFF2-40B4-BE49-F238E27FC236}">
                <a16:creationId xmlns:a16="http://schemas.microsoft.com/office/drawing/2014/main" id="{C365087B-9D24-4FEE-B994-D907C1DC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6770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01-landscape.md; 02-ofac-and-sanctions.md; 04-exclusion-eligibility-and-watchlists.md</a:t>
            </a:r>
          </a:p>
        </p:txBody>
      </p:sp>
      <p:sp>
        <p:nvSpPr>
          <p:cNvPr id="18" name="next-panel">
            <a:extLst xmlns:a="http://schemas.openxmlformats.org/drawingml/2006/main">
              <a:ext uri="{FF2B5EF4-FFF2-40B4-BE49-F238E27FC236}">
                <a16:creationId xmlns:a16="http://schemas.microsoft.com/office/drawing/2014/main" id="{0D7D07A1-B562-4388-A5E2-06C93EF2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1485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next-label">
            <a:extLst xmlns:a="http://schemas.openxmlformats.org/drawingml/2006/main">
              <a:ext uri="{FF2B5EF4-FFF2-40B4-BE49-F238E27FC236}">
                <a16:creationId xmlns:a16="http://schemas.microsoft.com/office/drawing/2014/main" id="{A435EF3A-6491-4F86-91D5-2AE63AC2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NEXT CUE</a:t>
            </a:r>
          </a:p>
        </p:txBody>
      </p:sp>
      <p:sp>
        <p:nvSpPr>
          <p:cNvPr id="20" name="next-body">
            <a:extLst xmlns:a="http://schemas.openxmlformats.org/drawingml/2006/main">
              <a:ext uri="{FF2B5EF4-FFF2-40B4-BE49-F238E27FC236}">
                <a16:creationId xmlns:a16="http://schemas.microsoft.com/office/drawing/2014/main" id="{BCCD5281-330C-4811-9274-B63F8DB9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7367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Broaden the audience's view of who may need screening.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A7DE45F-3A30-45B0-9E8F-197AB165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PRESENTER INFO - keep this deck on the private monitor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EB22084-6725-43F8-A39C-D0A1F974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/ 13</a:t>
            </a:r>
          </a:p>
        </p:txBody>
      </p:sp>
    </p:spTree>
    <p:extLst>
      <p:ext uri="{BB962C8B-B14F-4D97-AF65-F5344CB8AC3E}">
        <p14:creationId xmlns:p14="http://schemas.microsoft.com/office/powerpoint/2010/main" val="14531654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vate-strip">
            <a:extLst xmlns:a="http://schemas.openxmlformats.org/drawingml/2006/main">
              <a:ext uri="{FF2B5EF4-FFF2-40B4-BE49-F238E27FC236}">
                <a16:creationId xmlns:a16="http://schemas.microsoft.com/office/drawing/2014/main" id="{E05992F5-AB5F-438E-9E90-15EC1A84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ivate-label">
            <a:extLst xmlns:a="http://schemas.openxmlformats.org/drawingml/2006/main">
              <a:ext uri="{FF2B5EF4-FFF2-40B4-BE49-F238E27FC236}">
                <a16:creationId xmlns:a16="http://schemas.microsoft.com/office/drawing/2014/main" id="{1CF3BBD6-B302-4681-89E9-EFFD61F7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PRESENTER VIEW</a:t>
            </a:r>
          </a:p>
        </p:txBody>
      </p:sp>
      <p:sp>
        <p:nvSpPr>
          <p:cNvPr id="3" name="private-num">
            <a:extLst xmlns:a="http://schemas.openxmlformats.org/drawingml/2006/main">
              <a:ext uri="{FF2B5EF4-FFF2-40B4-BE49-F238E27FC236}">
                <a16:creationId xmlns:a16="http://schemas.microsoft.com/office/drawing/2014/main" id="{2476E79E-1623-43AA-B39D-05D46E74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"/>
            <a:ext cx="188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Audience slide 04 / 13</a:t>
            </a:r>
          </a:p>
        </p:txBody>
      </p:sp>
      <p:sp>
        <p:nvSpPr>
          <p:cNvPr id="4" name="presenter-title">
            <a:extLst xmlns:a="http://schemas.openxmlformats.org/drawingml/2006/main">
              <a:ext uri="{FF2B5EF4-FFF2-40B4-BE49-F238E27FC236}">
                <a16:creationId xmlns:a16="http://schemas.microsoft.com/office/drawing/2014/main" id="{412D8C98-0296-4B9B-9A84-FEE5A08B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"/>
            <a:ext cx="114109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Screening Extends Beyond the Borrower</a:t>
            </a:r>
          </a:p>
        </p:txBody>
      </p:sp>
      <p:sp>
        <p:nvSpPr>
          <p:cNvPr id="5" name="presenter-subtitle">
            <a:extLst xmlns:a="http://schemas.openxmlformats.org/drawingml/2006/main">
              <a:ext uri="{FF2B5EF4-FFF2-40B4-BE49-F238E27FC236}">
                <a16:creationId xmlns:a16="http://schemas.microsoft.com/office/drawing/2014/main" id="{F6D6F383-C6C3-4369-A3B4-2BACD014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971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Risk can attach to the parties, companies, agents, vendors, and counterparties around the loan.</a:t>
            </a:r>
          </a:p>
        </p:txBody>
      </p:sp>
      <p:sp>
        <p:nvSpPr>
          <p:cNvPr id="6" name="key-panel">
            <a:extLst xmlns:a="http://schemas.openxmlformats.org/drawingml/2006/main">
              <a:ext uri="{FF2B5EF4-FFF2-40B4-BE49-F238E27FC236}">
                <a16:creationId xmlns:a16="http://schemas.microsoft.com/office/drawing/2014/main" id="{80F25B72-7B40-48A8-9AE8-46B7B398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3543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ey-label">
            <a:extLst xmlns:a="http://schemas.openxmlformats.org/drawingml/2006/main">
              <a:ext uri="{FF2B5EF4-FFF2-40B4-BE49-F238E27FC236}">
                <a16:creationId xmlns:a16="http://schemas.microsoft.com/office/drawing/2014/main" id="{3D6F769F-245B-432A-82BD-126CD4AF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KEY MESSAGE</a:t>
            </a:r>
          </a:p>
        </p:txBody>
      </p:sp>
      <p:sp>
        <p:nvSpPr>
          <p:cNvPr id="8" name="key-body">
            <a:extLst xmlns:a="http://schemas.openxmlformats.org/drawingml/2006/main">
              <a:ext uri="{FF2B5EF4-FFF2-40B4-BE49-F238E27FC236}">
                <a16:creationId xmlns:a16="http://schemas.microsoft.com/office/drawing/2014/main" id="{05D96880-C9E1-466E-AA7E-83A7D827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95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Make the risk perimeter visible. Mortgage screening is not borrower-only.</a:t>
            </a:r>
          </a:p>
        </p:txBody>
      </p:sp>
      <p:sp>
        <p:nvSpPr>
          <p:cNvPr id="9" name="say-panel">
            <a:extLst xmlns:a="http://schemas.openxmlformats.org/drawingml/2006/main">
              <a:ext uri="{FF2B5EF4-FFF2-40B4-BE49-F238E27FC236}">
                <a16:creationId xmlns:a16="http://schemas.microsoft.com/office/drawing/2014/main" id="{F13AB0A2-7E25-411D-A8C6-471ECBE0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ay-label">
            <a:extLst xmlns:a="http://schemas.openxmlformats.org/drawingml/2006/main">
              <a:ext uri="{FF2B5EF4-FFF2-40B4-BE49-F238E27FC236}">
                <a16:creationId xmlns:a16="http://schemas.microsoft.com/office/drawing/2014/main" id="{DECE8509-5CCF-4D1F-AE83-853A1417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TALK TRACK</a:t>
            </a:r>
          </a:p>
        </p:txBody>
      </p:sp>
      <p:sp>
        <p:nvSpPr>
          <p:cNvPr id="11" name="say-body">
            <a:extLst xmlns:a="http://schemas.openxmlformats.org/drawingml/2006/main">
              <a:ext uri="{FF2B5EF4-FFF2-40B4-BE49-F238E27FC236}">
                <a16:creationId xmlns:a16="http://schemas.microsoft.com/office/drawing/2014/main" id="{1EBB725A-BE7C-4912-9B87-B80E4A92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OFAC risk can attach to transaction parties and payment recipients, not just the borrower.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Eligibility and exclusion checks may apply to appraisers, brokers, sellers, vendors, and counterparties depending on the program.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The right question is always: what party, what role, what rule?</a:t>
            </a:r>
          </a:p>
        </p:txBody>
      </p:sp>
      <p:sp>
        <p:nvSpPr>
          <p:cNvPr id="12" name="detail-panel">
            <a:extLst xmlns:a="http://schemas.openxmlformats.org/drawingml/2006/main">
              <a:ext uri="{FF2B5EF4-FFF2-40B4-BE49-F238E27FC236}">
                <a16:creationId xmlns:a16="http://schemas.microsoft.com/office/drawing/2014/main" id="{0B778DE3-0517-4F23-82A2-47BE6342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0CB8A48D-3871-4633-8FA4-0627D84C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DETAILS / CAUTIONS</a:t>
            </a:r>
          </a:p>
        </p:txBody>
      </p:sp>
      <p:sp>
        <p:nvSpPr>
          <p:cNvPr id="14" name="detail-body">
            <a:extLst xmlns:a="http://schemas.openxmlformats.org/drawingml/2006/main">
              <a:ext uri="{FF2B5EF4-FFF2-40B4-BE49-F238E27FC236}">
                <a16:creationId xmlns:a16="http://schemas.microsoft.com/office/drawing/2014/main" id="{1FA785C2-BBC1-4FA3-A90D-2E5B48F8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Borrower/program tools like CAIVRS are narrower.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Licensing checks are originator or company focused.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Internal watchlists often cover brokers, appraisers, settlement agents, vendors, or known problematic participants.</a:t>
            </a:r>
          </a:p>
        </p:txBody>
      </p:sp>
      <p:sp>
        <p:nvSpPr>
          <p:cNvPr id="15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B9E2F078-8847-41AE-A86E-5E0730FB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8F216E02-DD4E-4C83-B7D5-99E0255A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SOURCE ANCHOR</a:t>
            </a:r>
          </a:p>
        </p:txBody>
      </p:sp>
      <p:sp>
        <p:nvSpPr>
          <p:cNvPr id="17" name="source-body">
            <a:extLst xmlns:a="http://schemas.openxmlformats.org/drawingml/2006/main">
              <a:ext uri="{FF2B5EF4-FFF2-40B4-BE49-F238E27FC236}">
                <a16:creationId xmlns:a16="http://schemas.microsoft.com/office/drawing/2014/main" id="{59600764-4DC9-4A80-999C-4F1BC485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3491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01-landscape.md; 02-ofac-and-sanctions.md</a:t>
            </a:r>
          </a:p>
        </p:txBody>
      </p:sp>
      <p:sp>
        <p:nvSpPr>
          <p:cNvPr id="18" name="next-panel">
            <a:extLst xmlns:a="http://schemas.openxmlformats.org/drawingml/2006/main">
              <a:ext uri="{FF2B5EF4-FFF2-40B4-BE49-F238E27FC236}">
                <a16:creationId xmlns:a16="http://schemas.microsoft.com/office/drawing/2014/main" id="{FA7E2A8A-9C44-4AE0-BDBC-DB1A6066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1485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next-label">
            <a:extLst xmlns:a="http://schemas.openxmlformats.org/drawingml/2006/main">
              <a:ext uri="{FF2B5EF4-FFF2-40B4-BE49-F238E27FC236}">
                <a16:creationId xmlns:a16="http://schemas.microsoft.com/office/drawing/2014/main" id="{9E873E7F-4432-44DF-A1B2-F7F8B606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NEXT CUE</a:t>
            </a:r>
          </a:p>
        </p:txBody>
      </p:sp>
      <p:sp>
        <p:nvSpPr>
          <p:cNvPr id="20" name="next-body">
            <a:extLst xmlns:a="http://schemas.openxmlformats.org/drawingml/2006/main">
              <a:ext uri="{FF2B5EF4-FFF2-40B4-BE49-F238E27FC236}">
                <a16:creationId xmlns:a16="http://schemas.microsoft.com/office/drawing/2014/main" id="{746ED88A-34AC-42AD-BBC4-76FC2919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6950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Zoom in on OFAC because it is the highest-severity category.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D8CE0C4-B379-46E6-8016-A82CDB92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PRESENTER INFO - keep this deck on the private monitor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EA0F160-6740-4512-8947-93FAA1DD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 / 13</a:t>
            </a:r>
          </a:p>
        </p:txBody>
      </p:sp>
    </p:spTree>
    <p:extLst>
      <p:ext uri="{BB962C8B-B14F-4D97-AF65-F5344CB8AC3E}">
        <p14:creationId xmlns:p14="http://schemas.microsoft.com/office/powerpoint/2010/main" val="11985353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vate-strip">
            <a:extLst xmlns:a="http://schemas.openxmlformats.org/drawingml/2006/main">
              <a:ext uri="{FF2B5EF4-FFF2-40B4-BE49-F238E27FC236}">
                <a16:creationId xmlns:a16="http://schemas.microsoft.com/office/drawing/2014/main" id="{FA902C15-3063-43BF-AC8D-60FFA7F2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ivate-label">
            <a:extLst xmlns:a="http://schemas.openxmlformats.org/drawingml/2006/main">
              <a:ext uri="{FF2B5EF4-FFF2-40B4-BE49-F238E27FC236}">
                <a16:creationId xmlns:a16="http://schemas.microsoft.com/office/drawing/2014/main" id="{959291F3-A4AC-41EC-A434-AE1779FD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PRESENTER VIEW</a:t>
            </a:r>
          </a:p>
        </p:txBody>
      </p:sp>
      <p:sp>
        <p:nvSpPr>
          <p:cNvPr id="3" name="private-num">
            <a:extLst xmlns:a="http://schemas.openxmlformats.org/drawingml/2006/main">
              <a:ext uri="{FF2B5EF4-FFF2-40B4-BE49-F238E27FC236}">
                <a16:creationId xmlns:a16="http://schemas.microsoft.com/office/drawing/2014/main" id="{C6034F71-3614-4E11-A2A7-44B1D334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"/>
            <a:ext cx="188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Audience slide 05 / 13</a:t>
            </a:r>
          </a:p>
        </p:txBody>
      </p:sp>
      <p:sp>
        <p:nvSpPr>
          <p:cNvPr id="4" name="presenter-title">
            <a:extLst xmlns:a="http://schemas.openxmlformats.org/drawingml/2006/main">
              <a:ext uri="{FF2B5EF4-FFF2-40B4-BE49-F238E27FC236}">
                <a16:creationId xmlns:a16="http://schemas.microsoft.com/office/drawing/2014/main" id="{FAA97AEF-056E-44AA-8DE0-EF48C423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"/>
            <a:ext cx="114109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OFAC Is a Legal Permission Screen</a:t>
            </a:r>
          </a:p>
        </p:txBody>
      </p:sp>
      <p:sp>
        <p:nvSpPr>
          <p:cNvPr id="5" name="presenter-subtitle">
            <a:extLst xmlns:a="http://schemas.openxmlformats.org/drawingml/2006/main">
              <a:ext uri="{FF2B5EF4-FFF2-40B4-BE49-F238E27FC236}">
                <a16:creationId xmlns:a16="http://schemas.microsoft.com/office/drawing/2014/main" id="{BA691D5A-DA4B-47B8-B041-222464E0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971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It is not normal credit underwriting, and a true match can stop the process.</a:t>
            </a:r>
          </a:p>
        </p:txBody>
      </p:sp>
      <p:sp>
        <p:nvSpPr>
          <p:cNvPr id="6" name="key-panel">
            <a:extLst xmlns:a="http://schemas.openxmlformats.org/drawingml/2006/main">
              <a:ext uri="{FF2B5EF4-FFF2-40B4-BE49-F238E27FC236}">
                <a16:creationId xmlns:a16="http://schemas.microsoft.com/office/drawing/2014/main" id="{62F2608C-2476-4144-A552-8D19051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3543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ey-label">
            <a:extLst xmlns:a="http://schemas.openxmlformats.org/drawingml/2006/main">
              <a:ext uri="{FF2B5EF4-FFF2-40B4-BE49-F238E27FC236}">
                <a16:creationId xmlns:a16="http://schemas.microsoft.com/office/drawing/2014/main" id="{68261F94-DDE5-4342-A681-FFBE3C2E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KEY MESSAGE</a:t>
            </a:r>
          </a:p>
        </p:txBody>
      </p:sp>
      <p:sp>
        <p:nvSpPr>
          <p:cNvPr id="8" name="key-body">
            <a:extLst xmlns:a="http://schemas.openxmlformats.org/drawingml/2006/main">
              <a:ext uri="{FF2B5EF4-FFF2-40B4-BE49-F238E27FC236}">
                <a16:creationId xmlns:a16="http://schemas.microsoft.com/office/drawing/2014/main" id="{E55CBE88-027C-4CD9-8559-FAF9BAE3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95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OFAC is the most serious category because it is about legal permission to transact.</a:t>
            </a:r>
          </a:p>
        </p:txBody>
      </p:sp>
      <p:sp>
        <p:nvSpPr>
          <p:cNvPr id="9" name="say-panel">
            <a:extLst xmlns:a="http://schemas.openxmlformats.org/drawingml/2006/main">
              <a:ext uri="{FF2B5EF4-FFF2-40B4-BE49-F238E27FC236}">
                <a16:creationId xmlns:a16="http://schemas.microsoft.com/office/drawing/2014/main" id="{FC5D81CC-E401-44D4-A9BD-68731FD6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ay-label">
            <a:extLst xmlns:a="http://schemas.openxmlformats.org/drawingml/2006/main">
              <a:ext uri="{FF2B5EF4-FFF2-40B4-BE49-F238E27FC236}">
                <a16:creationId xmlns:a16="http://schemas.microsoft.com/office/drawing/2014/main" id="{A4643D64-9E42-4DCF-AFF5-99C7EE5A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TALK TRACK</a:t>
            </a:r>
          </a:p>
        </p:txBody>
      </p:sp>
      <p:sp>
        <p:nvSpPr>
          <p:cNvPr id="11" name="say-body">
            <a:extLst xmlns:a="http://schemas.openxmlformats.org/drawingml/2006/main">
              <a:ext uri="{FF2B5EF4-FFF2-40B4-BE49-F238E27FC236}">
                <a16:creationId xmlns:a16="http://schemas.microsoft.com/office/drawing/2014/main" id="{056BB64A-0ABC-48E5-8B4C-504317D2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OFAC is administered by the U.S. Treasury and includes the SDN list plus other sanctions list data.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The screen compares names and available identifiers; a possible match may be a false positive.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A true match moves control to sanctions/legal/compliance, not routine underwriting.</a:t>
            </a:r>
          </a:p>
        </p:txBody>
      </p:sp>
      <p:sp>
        <p:nvSpPr>
          <p:cNvPr id="12" name="detail-panel">
            <a:extLst xmlns:a="http://schemas.openxmlformats.org/drawingml/2006/main">
              <a:ext uri="{FF2B5EF4-FFF2-40B4-BE49-F238E27FC236}">
                <a16:creationId xmlns:a16="http://schemas.microsoft.com/office/drawing/2014/main" id="{E91D69BB-1258-4196-804C-48D0436B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9A9B0C0D-37C3-4B88-847A-C5945BA3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DETAILS / CAUTIONS</a:t>
            </a:r>
          </a:p>
        </p:txBody>
      </p:sp>
      <p:sp>
        <p:nvSpPr>
          <p:cNvPr id="14" name="detail-body">
            <a:extLst xmlns:a="http://schemas.openxmlformats.org/drawingml/2006/main">
              <a:ext uri="{FF2B5EF4-FFF2-40B4-BE49-F238E27FC236}">
                <a16:creationId xmlns:a16="http://schemas.microsoft.com/office/drawing/2014/main" id="{6C6991D8-E80E-4395-BC19-B29CEA1E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Typical identifiers: full legal name, aliases, DOB, address, country, nationality when collected, business identifiers, and beneficial-owner/control-person data when applicable.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Common checkpoints: application, added party, clear-to-close, funding, investor delivery, servicing, and payment events.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Avoid telling the audience that every possible match means decline; the key is escalation and documented disposition.</a:t>
            </a:r>
          </a:p>
        </p:txBody>
      </p:sp>
      <p:sp>
        <p:nvSpPr>
          <p:cNvPr id="15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C3F4F9B1-A0F7-475F-9B6E-6A4267E1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E6AE2367-309D-4F53-9CB3-D8F25154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SOURCE ANCHOR</a:t>
            </a:r>
          </a:p>
        </p:txBody>
      </p:sp>
      <p:sp>
        <p:nvSpPr>
          <p:cNvPr id="17" name="source-body">
            <a:extLst xmlns:a="http://schemas.openxmlformats.org/drawingml/2006/main">
              <a:ext uri="{FF2B5EF4-FFF2-40B4-BE49-F238E27FC236}">
                <a16:creationId xmlns:a16="http://schemas.microsoft.com/office/drawing/2014/main" id="{AF0F59CA-5D7D-4501-B4B3-E6C5A858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7502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02-ofac-and-sanctions.md; OFAC Sanctions List Service</a:t>
            </a:r>
          </a:p>
        </p:txBody>
      </p:sp>
      <p:sp>
        <p:nvSpPr>
          <p:cNvPr id="18" name="next-panel">
            <a:extLst xmlns:a="http://schemas.openxmlformats.org/drawingml/2006/main">
              <a:ext uri="{FF2B5EF4-FFF2-40B4-BE49-F238E27FC236}">
                <a16:creationId xmlns:a16="http://schemas.microsoft.com/office/drawing/2014/main" id="{3F7D4258-5243-461C-8BFC-A173DA1F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1485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next-label">
            <a:extLst xmlns:a="http://schemas.openxmlformats.org/drawingml/2006/main">
              <a:ext uri="{FF2B5EF4-FFF2-40B4-BE49-F238E27FC236}">
                <a16:creationId xmlns:a16="http://schemas.microsoft.com/office/drawing/2014/main" id="{A8C5BAC8-6BA6-4CA8-B47F-F21CECF6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NEXT CUE</a:t>
            </a:r>
          </a:p>
        </p:txBody>
      </p:sp>
      <p:sp>
        <p:nvSpPr>
          <p:cNvPr id="20" name="next-body">
            <a:extLst xmlns:a="http://schemas.openxmlformats.org/drawingml/2006/main">
              <a:ext uri="{FF2B5EF4-FFF2-40B4-BE49-F238E27FC236}">
                <a16:creationId xmlns:a16="http://schemas.microsoft.com/office/drawing/2014/main" id="{297698E8-AB20-422F-A35F-EBA73C58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3353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Contrast legal restriction with fraud-risk tools.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EDD7E8-D880-4DE4-8F18-D5B0367B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PRESENTER INFO - keep this deck on the private monitor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F7C260E-9F4B-4F0B-AE0F-5CD18CD2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 / 13</a:t>
            </a:r>
          </a:p>
        </p:txBody>
      </p:sp>
    </p:spTree>
    <p:extLst>
      <p:ext uri="{BB962C8B-B14F-4D97-AF65-F5344CB8AC3E}">
        <p14:creationId xmlns:p14="http://schemas.microsoft.com/office/powerpoint/2010/main" val="13436384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vate-strip">
            <a:extLst xmlns:a="http://schemas.openxmlformats.org/drawingml/2006/main">
              <a:ext uri="{FF2B5EF4-FFF2-40B4-BE49-F238E27FC236}">
                <a16:creationId xmlns:a16="http://schemas.microsoft.com/office/drawing/2014/main" id="{4B3363FD-A1C4-4106-A524-D8162602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ivate-label">
            <a:extLst xmlns:a="http://schemas.openxmlformats.org/drawingml/2006/main">
              <a:ext uri="{FF2B5EF4-FFF2-40B4-BE49-F238E27FC236}">
                <a16:creationId xmlns:a16="http://schemas.microsoft.com/office/drawing/2014/main" id="{D780E249-C8B4-4E30-9690-A2C07B31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PRESENTER VIEW</a:t>
            </a:r>
          </a:p>
        </p:txBody>
      </p:sp>
      <p:sp>
        <p:nvSpPr>
          <p:cNvPr id="3" name="private-num">
            <a:extLst xmlns:a="http://schemas.openxmlformats.org/drawingml/2006/main">
              <a:ext uri="{FF2B5EF4-FFF2-40B4-BE49-F238E27FC236}">
                <a16:creationId xmlns:a16="http://schemas.microsoft.com/office/drawing/2014/main" id="{32D7A9A4-D48A-42D1-A1E5-8EC76B3B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"/>
            <a:ext cx="188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Audience slide 06 / 13</a:t>
            </a:r>
          </a:p>
        </p:txBody>
      </p:sp>
      <p:sp>
        <p:nvSpPr>
          <p:cNvPr id="4" name="presenter-title">
            <a:extLst xmlns:a="http://schemas.openxmlformats.org/drawingml/2006/main">
              <a:ext uri="{FF2B5EF4-FFF2-40B4-BE49-F238E27FC236}">
                <a16:creationId xmlns:a16="http://schemas.microsoft.com/office/drawing/2014/main" id="{002492D7-3058-4FA7-96FF-DB88E4CB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"/>
            <a:ext cx="114109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Fraud Tools Raise Questions the File Must Answer</a:t>
            </a:r>
          </a:p>
        </p:txBody>
      </p:sp>
      <p:sp>
        <p:nvSpPr>
          <p:cNvPr id="5" name="presenter-subtitle">
            <a:extLst xmlns:a="http://schemas.openxmlformats.org/drawingml/2006/main">
              <a:ext uri="{FF2B5EF4-FFF2-40B4-BE49-F238E27FC236}">
                <a16:creationId xmlns:a16="http://schemas.microsoft.com/office/drawing/2014/main" id="{2B812059-F858-4084-A995-D647D742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971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 fraud alert is usually a risk signal, not an automatic denial.</a:t>
            </a:r>
          </a:p>
        </p:txBody>
      </p:sp>
      <p:sp>
        <p:nvSpPr>
          <p:cNvPr id="6" name="key-panel">
            <a:extLst xmlns:a="http://schemas.openxmlformats.org/drawingml/2006/main">
              <a:ext uri="{FF2B5EF4-FFF2-40B4-BE49-F238E27FC236}">
                <a16:creationId xmlns:a16="http://schemas.microsoft.com/office/drawing/2014/main" id="{DBCE1B1E-2C28-4366-A420-FCE5E38D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3543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ey-label">
            <a:extLst xmlns:a="http://schemas.openxmlformats.org/drawingml/2006/main">
              <a:ext uri="{FF2B5EF4-FFF2-40B4-BE49-F238E27FC236}">
                <a16:creationId xmlns:a16="http://schemas.microsoft.com/office/drawing/2014/main" id="{C4E55A3E-2E4F-46BE-8BC4-4932F053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KEY MESSAGE</a:t>
            </a:r>
          </a:p>
        </p:txBody>
      </p:sp>
      <p:sp>
        <p:nvSpPr>
          <p:cNvPr id="8" name="key-body">
            <a:extLst xmlns:a="http://schemas.openxmlformats.org/drawingml/2006/main">
              <a:ext uri="{FF2B5EF4-FFF2-40B4-BE49-F238E27FC236}">
                <a16:creationId xmlns:a16="http://schemas.microsoft.com/office/drawing/2014/main" id="{0A5AE1D9-5C71-45AA-9098-9A09A0D6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95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Fraud tools aggregate data and produce alerts that need investigation.</a:t>
            </a:r>
          </a:p>
        </p:txBody>
      </p:sp>
      <p:sp>
        <p:nvSpPr>
          <p:cNvPr id="9" name="say-panel">
            <a:extLst xmlns:a="http://schemas.openxmlformats.org/drawingml/2006/main">
              <a:ext uri="{FF2B5EF4-FFF2-40B4-BE49-F238E27FC236}">
                <a16:creationId xmlns:a16="http://schemas.microsoft.com/office/drawing/2014/main" id="{B9F28355-26EF-4031-A26A-B45845EE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ay-label">
            <a:extLst xmlns:a="http://schemas.openxmlformats.org/drawingml/2006/main">
              <a:ext uri="{FF2B5EF4-FFF2-40B4-BE49-F238E27FC236}">
                <a16:creationId xmlns:a16="http://schemas.microsoft.com/office/drawing/2014/main" id="{CF0CF990-C7DC-47B5-B061-1FB0875A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TALK TRACK</a:t>
            </a:r>
          </a:p>
        </p:txBody>
      </p:sp>
      <p:sp>
        <p:nvSpPr>
          <p:cNvPr id="11" name="say-body">
            <a:extLst xmlns:a="http://schemas.openxmlformats.org/drawingml/2006/main">
              <a:ext uri="{FF2B5EF4-FFF2-40B4-BE49-F238E27FC236}">
                <a16:creationId xmlns:a16="http://schemas.microsoft.com/office/drawing/2014/main" id="{13D36A0E-E986-4C5F-921A-6D688943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FraudGuard-style tools can cover identity, address history, employment, income reasonableness, occupancy, property ownership, flipping, valuation, public records, and relationship signals.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The operational move is to map the alert to a fact in the file, then decide what evidence would clear it.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If a vendor report affects credit eligibility, pricing, or adverse action, consumer-reporting, fair lending, privacy, and notice rules may matter.</a:t>
            </a:r>
          </a:p>
        </p:txBody>
      </p:sp>
      <p:sp>
        <p:nvSpPr>
          <p:cNvPr id="12" name="detail-panel">
            <a:extLst xmlns:a="http://schemas.openxmlformats.org/drawingml/2006/main">
              <a:ext uri="{FF2B5EF4-FFF2-40B4-BE49-F238E27FC236}">
                <a16:creationId xmlns:a16="http://schemas.microsoft.com/office/drawing/2014/main" id="{6596378C-F939-4C1A-A897-17C3705D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12731260-551B-4E29-BBDE-EED7F1C3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DETAILS / CAUTIONS</a:t>
            </a:r>
          </a:p>
        </p:txBody>
      </p:sp>
      <p:sp>
        <p:nvSpPr>
          <p:cNvPr id="14" name="detail-body">
            <a:extLst xmlns:a="http://schemas.openxmlformats.org/drawingml/2006/main">
              <a:ext uri="{FF2B5EF4-FFF2-40B4-BE49-F238E27FC236}">
                <a16:creationId xmlns:a16="http://schemas.microsoft.com/office/drawing/2014/main" id="{8A9A8D8D-320D-4E87-977B-89BC14FC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Example clearance: independently verify employer phone number, compare payroll records, use transcripts or approved verification, and check related-party employment issues.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Weak clearance is simply accepting the borrower's statement.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Post-close fraud may surface through QC, investor audit, early payment default, complaints, servicing contacts, returned mail, or tips.</a:t>
            </a:r>
          </a:p>
        </p:txBody>
      </p:sp>
      <p:sp>
        <p:nvSpPr>
          <p:cNvPr id="15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5ACB0202-F738-42DF-87F4-6231211B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8EF79E7F-A467-4037-AD86-A5FE96FE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SOURCE ANCHOR</a:t>
            </a:r>
          </a:p>
        </p:txBody>
      </p:sp>
      <p:sp>
        <p:nvSpPr>
          <p:cNvPr id="17" name="source-body">
            <a:extLst xmlns:a="http://schemas.openxmlformats.org/drawingml/2006/main">
              <a:ext uri="{FF2B5EF4-FFF2-40B4-BE49-F238E27FC236}">
                <a16:creationId xmlns:a16="http://schemas.microsoft.com/office/drawing/2014/main" id="{263CEEF9-4168-4521-94E3-DA38F903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6770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03-fraudguard-and-fraud-tools.md; CFPB Regulation V and Regulation B resources</a:t>
            </a:r>
          </a:p>
        </p:txBody>
      </p:sp>
      <p:sp>
        <p:nvSpPr>
          <p:cNvPr id="18" name="next-panel">
            <a:extLst xmlns:a="http://schemas.openxmlformats.org/drawingml/2006/main">
              <a:ext uri="{FF2B5EF4-FFF2-40B4-BE49-F238E27FC236}">
                <a16:creationId xmlns:a16="http://schemas.microsoft.com/office/drawing/2014/main" id="{98DB53CD-CA80-4FED-90DA-E4A5FF0F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1485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next-label">
            <a:extLst xmlns:a="http://schemas.openxmlformats.org/drawingml/2006/main">
              <a:ext uri="{FF2B5EF4-FFF2-40B4-BE49-F238E27FC236}">
                <a16:creationId xmlns:a16="http://schemas.microsoft.com/office/drawing/2014/main" id="{CE795DD7-57A0-417F-BF45-7D5F3B72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NEXT CUE</a:t>
            </a:r>
          </a:p>
        </p:txBody>
      </p:sp>
      <p:sp>
        <p:nvSpPr>
          <p:cNvPr id="20" name="next-body">
            <a:extLst xmlns:a="http://schemas.openxmlformats.org/drawingml/2006/main">
              <a:ext uri="{FF2B5EF4-FFF2-40B4-BE49-F238E27FC236}">
                <a16:creationId xmlns:a16="http://schemas.microsoft.com/office/drawing/2014/main" id="{A0031749-3E21-4AF1-9B45-D0550044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919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Show the other eligibility and watchlist controls.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F08AF46-BC68-4689-A048-DCBD5759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PRESENTER INFO - keep this deck on the private monitor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101F8C3-2512-40D0-AEB2-4F8429E6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 / 13</a:t>
            </a:r>
          </a:p>
        </p:txBody>
      </p:sp>
    </p:spTree>
    <p:extLst>
      <p:ext uri="{BB962C8B-B14F-4D97-AF65-F5344CB8AC3E}">
        <p14:creationId xmlns:p14="http://schemas.microsoft.com/office/powerpoint/2010/main" val="17285117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vate-strip">
            <a:extLst xmlns:a="http://schemas.openxmlformats.org/drawingml/2006/main">
              <a:ext uri="{FF2B5EF4-FFF2-40B4-BE49-F238E27FC236}">
                <a16:creationId xmlns:a16="http://schemas.microsoft.com/office/drawing/2014/main" id="{C532DA27-E691-49FB-BB52-339A89A1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ivate-label">
            <a:extLst xmlns:a="http://schemas.openxmlformats.org/drawingml/2006/main">
              <a:ext uri="{FF2B5EF4-FFF2-40B4-BE49-F238E27FC236}">
                <a16:creationId xmlns:a16="http://schemas.microsoft.com/office/drawing/2014/main" id="{C62A57C1-524C-4A61-B6E1-1CEA54AF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PRESENTER VIEW</a:t>
            </a:r>
          </a:p>
        </p:txBody>
      </p:sp>
      <p:sp>
        <p:nvSpPr>
          <p:cNvPr id="3" name="private-num">
            <a:extLst xmlns:a="http://schemas.openxmlformats.org/drawingml/2006/main">
              <a:ext uri="{FF2B5EF4-FFF2-40B4-BE49-F238E27FC236}">
                <a16:creationId xmlns:a16="http://schemas.microsoft.com/office/drawing/2014/main" id="{2C24FFCD-1255-49E3-8691-9AF6577F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"/>
            <a:ext cx="188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Audience slide 07 / 13</a:t>
            </a:r>
          </a:p>
        </p:txBody>
      </p:sp>
      <p:sp>
        <p:nvSpPr>
          <p:cNvPr id="4" name="presenter-title">
            <a:extLst xmlns:a="http://schemas.openxmlformats.org/drawingml/2006/main">
              <a:ext uri="{FF2B5EF4-FFF2-40B4-BE49-F238E27FC236}">
                <a16:creationId xmlns:a16="http://schemas.microsoft.com/office/drawing/2014/main" id="{FFAA14ED-A54F-4121-9F39-DF95BCCE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"/>
            <a:ext cx="114109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Eligibility Controls Decide Participation</a:t>
            </a:r>
          </a:p>
        </p:txBody>
      </p:sp>
      <p:sp>
        <p:nvSpPr>
          <p:cNvPr id="5" name="presenter-subtitle">
            <a:extLst xmlns:a="http://schemas.openxmlformats.org/drawingml/2006/main">
              <a:ext uri="{FF2B5EF4-FFF2-40B4-BE49-F238E27FC236}">
                <a16:creationId xmlns:a16="http://schemas.microsoft.com/office/drawing/2014/main" id="{17AB39BC-CD0B-4B30-BC2C-1C8FE57B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971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Some lists do not identify fraud or sanctions. They decide whether a party or borrower can participate.</a:t>
            </a:r>
          </a:p>
        </p:txBody>
      </p:sp>
      <p:sp>
        <p:nvSpPr>
          <p:cNvPr id="6" name="key-panel">
            <a:extLst xmlns:a="http://schemas.openxmlformats.org/drawingml/2006/main">
              <a:ext uri="{FF2B5EF4-FFF2-40B4-BE49-F238E27FC236}">
                <a16:creationId xmlns:a16="http://schemas.microsoft.com/office/drawing/2014/main" id="{0B138915-7FFD-4EBA-B3D7-EE0D048C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3543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ey-label">
            <a:extLst xmlns:a="http://schemas.openxmlformats.org/drawingml/2006/main">
              <a:ext uri="{FF2B5EF4-FFF2-40B4-BE49-F238E27FC236}">
                <a16:creationId xmlns:a16="http://schemas.microsoft.com/office/drawing/2014/main" id="{6CE1DD23-F95B-46AE-9CFF-BB5BD28D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KEY MESSAGE</a:t>
            </a:r>
          </a:p>
        </p:txBody>
      </p:sp>
      <p:sp>
        <p:nvSpPr>
          <p:cNvPr id="8" name="key-body">
            <a:extLst xmlns:a="http://schemas.openxmlformats.org/drawingml/2006/main">
              <a:ext uri="{FF2B5EF4-FFF2-40B4-BE49-F238E27FC236}">
                <a16:creationId xmlns:a16="http://schemas.microsoft.com/office/drawing/2014/main" id="{3AB33967-B90C-4180-912E-3661E0BE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95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0311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These controls are about participation, eligibility, and authority, not always misconduct in the current file.</a:t>
            </a:r>
          </a:p>
        </p:txBody>
      </p:sp>
      <p:sp>
        <p:nvSpPr>
          <p:cNvPr id="9" name="say-panel">
            <a:extLst xmlns:a="http://schemas.openxmlformats.org/drawingml/2006/main">
              <a:ext uri="{FF2B5EF4-FFF2-40B4-BE49-F238E27FC236}">
                <a16:creationId xmlns:a16="http://schemas.microsoft.com/office/drawing/2014/main" id="{B471A70F-76CF-4E01-91C5-5510118F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ay-label">
            <a:extLst xmlns:a="http://schemas.openxmlformats.org/drawingml/2006/main">
              <a:ext uri="{FF2B5EF4-FFF2-40B4-BE49-F238E27FC236}">
                <a16:creationId xmlns:a16="http://schemas.microsoft.com/office/drawing/2014/main" id="{93D73D0F-FA38-4052-903F-7921C48E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TALK TRACK</a:t>
            </a:r>
          </a:p>
        </p:txBody>
      </p:sp>
      <p:sp>
        <p:nvSpPr>
          <p:cNvPr id="11" name="say-body">
            <a:extLst xmlns:a="http://schemas.openxmlformats.org/drawingml/2006/main">
              <a:ext uri="{FF2B5EF4-FFF2-40B4-BE49-F238E27FC236}">
                <a16:creationId xmlns:a16="http://schemas.microsoft.com/office/drawing/2014/main" id="{D33A147B-11F4-4827-AE24-3EDEB3E1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HUD LDP, SAM, FHFA, GSE, CAIVRS, NMLS, and internal lists all answer different questions.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A hit can affect origination, insurance, guarantee, delivery, servicing, or counterparty approval.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The right disposition depends on the party role and the applicable program or investor rule.</a:t>
            </a:r>
          </a:p>
        </p:txBody>
      </p:sp>
      <p:sp>
        <p:nvSpPr>
          <p:cNvPr id="12" name="detail-panel">
            <a:extLst xmlns:a="http://schemas.openxmlformats.org/drawingml/2006/main">
              <a:ext uri="{FF2B5EF4-FFF2-40B4-BE49-F238E27FC236}">
                <a16:creationId xmlns:a16="http://schemas.microsoft.com/office/drawing/2014/main" id="{87AE6758-31E9-4949-A98C-335CBA3E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BF9FE39A-E312-4E66-A492-75AE0CA1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DETAILS / CAUTIONS</a:t>
            </a:r>
          </a:p>
        </p:txBody>
      </p:sp>
      <p:sp>
        <p:nvSpPr>
          <p:cNvPr id="14" name="detail-body">
            <a:extLst xmlns:a="http://schemas.openxmlformats.org/drawingml/2006/main">
              <a:ext uri="{FF2B5EF4-FFF2-40B4-BE49-F238E27FC236}">
                <a16:creationId xmlns:a16="http://schemas.microsoft.com/office/drawing/2014/main" id="{6E2298C9-5B2A-4FBF-B943-6F1280D1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CAIVRS is federal credit eligibility, not an all-purpose fraud list.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NMLS is licensing authority, not a borrower bad-actor list.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GSE exclusionary controls may not be public in the same way OFAC or SAM is; approved sellers/servicers rely on investor systems and guides.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Internal watchlists need objective criteria, controlled additions, periodic review, correction path, and fair lending/defamation sensitivity.</a:t>
            </a:r>
          </a:p>
        </p:txBody>
      </p:sp>
      <p:sp>
        <p:nvSpPr>
          <p:cNvPr id="15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471E30F7-D1C6-48DB-ACCF-B6F5E520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DF15FA15-A1D9-48A8-9030-669656C7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SOURCE ANCHOR</a:t>
            </a:r>
          </a:p>
        </p:txBody>
      </p:sp>
      <p:sp>
        <p:nvSpPr>
          <p:cNvPr id="17" name="source-body">
            <a:extLst xmlns:a="http://schemas.openxmlformats.org/drawingml/2006/main">
              <a:ext uri="{FF2B5EF4-FFF2-40B4-BE49-F238E27FC236}">
                <a16:creationId xmlns:a16="http://schemas.microsoft.com/office/drawing/2014/main" id="{38EC8E6F-F0F5-4AC5-9636-A140076D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6770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04-exclusion-eligibility-and-watchlists.md; HUD, SAM, FHFA, Fannie Mae, Freddie Mac, NMLS</a:t>
            </a:r>
          </a:p>
        </p:txBody>
      </p:sp>
      <p:sp>
        <p:nvSpPr>
          <p:cNvPr id="18" name="next-panel">
            <a:extLst xmlns:a="http://schemas.openxmlformats.org/drawingml/2006/main">
              <a:ext uri="{FF2B5EF4-FFF2-40B4-BE49-F238E27FC236}">
                <a16:creationId xmlns:a16="http://schemas.microsoft.com/office/drawing/2014/main" id="{F06ADC6F-B77B-43DC-BC5B-1E8DDE06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1485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next-label">
            <a:extLst xmlns:a="http://schemas.openxmlformats.org/drawingml/2006/main">
              <a:ext uri="{FF2B5EF4-FFF2-40B4-BE49-F238E27FC236}">
                <a16:creationId xmlns:a16="http://schemas.microsoft.com/office/drawing/2014/main" id="{B0D98C6F-2098-4958-8488-D87350AA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NEXT CUE</a:t>
            </a:r>
          </a:p>
        </p:txBody>
      </p:sp>
      <p:sp>
        <p:nvSpPr>
          <p:cNvPr id="20" name="next-body">
            <a:extLst xmlns:a="http://schemas.openxmlformats.org/drawingml/2006/main">
              <a:ext uri="{FF2B5EF4-FFF2-40B4-BE49-F238E27FC236}">
                <a16:creationId xmlns:a16="http://schemas.microsoft.com/office/drawing/2014/main" id="{479D37A5-82C9-459F-A59C-0B5F3A7B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70709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Move from type of screen to timing across the loan lifecycle.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4CFB50E-91E8-4C1A-8B83-DBC73AFF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PRESENTER INFO - keep this deck on the private monitor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B3D9953-7E98-48CB-A1DC-0C688123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 / 13</a:t>
            </a:r>
          </a:p>
        </p:txBody>
      </p:sp>
    </p:spTree>
    <p:extLst>
      <p:ext uri="{BB962C8B-B14F-4D97-AF65-F5344CB8AC3E}">
        <p14:creationId xmlns:p14="http://schemas.microsoft.com/office/powerpoint/2010/main" val="3450048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vate-strip">
            <a:extLst xmlns:a="http://schemas.openxmlformats.org/drawingml/2006/main">
              <a:ext uri="{FF2B5EF4-FFF2-40B4-BE49-F238E27FC236}">
                <a16:creationId xmlns:a16="http://schemas.microsoft.com/office/drawing/2014/main" id="{B3B0B5FA-AA9F-43FA-98B4-900F1D6F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ivate-label">
            <a:extLst xmlns:a="http://schemas.openxmlformats.org/drawingml/2006/main">
              <a:ext uri="{FF2B5EF4-FFF2-40B4-BE49-F238E27FC236}">
                <a16:creationId xmlns:a16="http://schemas.microsoft.com/office/drawing/2014/main" id="{E82D8AB7-5416-490C-940A-0322A6C3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PRESENTER VIEW</a:t>
            </a:r>
          </a:p>
        </p:txBody>
      </p:sp>
      <p:sp>
        <p:nvSpPr>
          <p:cNvPr id="3" name="private-num">
            <a:extLst xmlns:a="http://schemas.openxmlformats.org/drawingml/2006/main">
              <a:ext uri="{FF2B5EF4-FFF2-40B4-BE49-F238E27FC236}">
                <a16:creationId xmlns:a16="http://schemas.microsoft.com/office/drawing/2014/main" id="{A65CCC9B-6642-475F-9B71-F0D1560B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"/>
            <a:ext cx="188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Audience slide 08 / 13</a:t>
            </a:r>
          </a:p>
        </p:txBody>
      </p:sp>
      <p:sp>
        <p:nvSpPr>
          <p:cNvPr id="4" name="presenter-title">
            <a:extLst xmlns:a="http://schemas.openxmlformats.org/drawingml/2006/main">
              <a:ext uri="{FF2B5EF4-FFF2-40B4-BE49-F238E27FC236}">
                <a16:creationId xmlns:a16="http://schemas.microsoft.com/office/drawing/2014/main" id="{61297CCA-BA77-4C28-94D1-0EE950F9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"/>
            <a:ext cx="114109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Screening Works as a Series of Gates</a:t>
            </a:r>
          </a:p>
        </p:txBody>
      </p:sp>
      <p:sp>
        <p:nvSpPr>
          <p:cNvPr id="5" name="presenter-subtitle">
            <a:extLst xmlns:a="http://schemas.openxmlformats.org/drawingml/2006/main">
              <a:ext uri="{FF2B5EF4-FFF2-40B4-BE49-F238E27FC236}">
                <a16:creationId xmlns:a16="http://schemas.microsoft.com/office/drawing/2014/main" id="{D859EBCC-5292-4D64-8AA7-3605BD34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971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Each checkpoint answers a fresh version of: are we allowed to keep going?</a:t>
            </a:r>
          </a:p>
        </p:txBody>
      </p:sp>
      <p:sp>
        <p:nvSpPr>
          <p:cNvPr id="6" name="key-panel">
            <a:extLst xmlns:a="http://schemas.openxmlformats.org/drawingml/2006/main">
              <a:ext uri="{FF2B5EF4-FFF2-40B4-BE49-F238E27FC236}">
                <a16:creationId xmlns:a16="http://schemas.microsoft.com/office/drawing/2014/main" id="{7C34DAE2-1A0E-479B-98C0-898220BF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3543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ey-label">
            <a:extLst xmlns:a="http://schemas.openxmlformats.org/drawingml/2006/main">
              <a:ext uri="{FF2B5EF4-FFF2-40B4-BE49-F238E27FC236}">
                <a16:creationId xmlns:a16="http://schemas.microsoft.com/office/drawing/2014/main" id="{4B11F569-919C-4636-AFD9-D4034D5A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KEY MESSAGE</a:t>
            </a:r>
          </a:p>
        </p:txBody>
      </p:sp>
      <p:sp>
        <p:nvSpPr>
          <p:cNvPr id="8" name="key-body">
            <a:extLst xmlns:a="http://schemas.openxmlformats.org/drawingml/2006/main">
              <a:ext uri="{FF2B5EF4-FFF2-40B4-BE49-F238E27FC236}">
                <a16:creationId xmlns:a16="http://schemas.microsoft.com/office/drawing/2014/main" id="{A0AD4AA0-6218-4BD9-AD1D-19EBF39A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95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677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Timing is not one-and-done. Screening follows the loan lifecycle.</a:t>
            </a:r>
          </a:p>
        </p:txBody>
      </p:sp>
      <p:sp>
        <p:nvSpPr>
          <p:cNvPr id="9" name="say-panel">
            <a:extLst xmlns:a="http://schemas.openxmlformats.org/drawingml/2006/main">
              <a:ext uri="{FF2B5EF4-FFF2-40B4-BE49-F238E27FC236}">
                <a16:creationId xmlns:a16="http://schemas.microsoft.com/office/drawing/2014/main" id="{5FA9C3FF-4F23-4B40-B8DA-D249AAE5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ay-label">
            <a:extLst xmlns:a="http://schemas.openxmlformats.org/drawingml/2006/main">
              <a:ext uri="{FF2B5EF4-FFF2-40B4-BE49-F238E27FC236}">
                <a16:creationId xmlns:a16="http://schemas.microsoft.com/office/drawing/2014/main" id="{53050C1C-2364-452B-825B-431A2E9A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TALK TRACK</a:t>
            </a:r>
          </a:p>
        </p:txBody>
      </p:sp>
      <p:sp>
        <p:nvSpPr>
          <p:cNvPr id="11" name="say-body">
            <a:extLst xmlns:a="http://schemas.openxmlformats.org/drawingml/2006/main">
              <a:ext uri="{FF2B5EF4-FFF2-40B4-BE49-F238E27FC236}">
                <a16:creationId xmlns:a16="http://schemas.microsoft.com/office/drawing/2014/main" id="{F99016EB-4B40-4D1E-B2B9-27336ABB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Controls start before a loan file exists, with broker and vendor onboarding.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They continue through application, processing, underwriting, clear-to-close, funding, post-close QC, investor delivery, servicing, and transfer/payoff events.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The same name or party may need to be run more than once because the world changes.</a:t>
            </a:r>
          </a:p>
        </p:txBody>
      </p:sp>
      <p:sp>
        <p:nvSpPr>
          <p:cNvPr id="12" name="detail-panel">
            <a:extLst xmlns:a="http://schemas.openxmlformats.org/drawingml/2006/main">
              <a:ext uri="{FF2B5EF4-FFF2-40B4-BE49-F238E27FC236}">
                <a16:creationId xmlns:a16="http://schemas.microsoft.com/office/drawing/2014/main" id="{B4B8E628-DAB1-4D6B-AB18-06062485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8045CA74-136D-473B-AEF7-5E4D609B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DETAILS / CAUTIONS</a:t>
            </a:r>
          </a:p>
        </p:txBody>
      </p:sp>
      <p:sp>
        <p:nvSpPr>
          <p:cNvPr id="14" name="detail-body">
            <a:extLst xmlns:a="http://schemas.openxmlformats.org/drawingml/2006/main">
              <a:ext uri="{FF2B5EF4-FFF2-40B4-BE49-F238E27FC236}">
                <a16:creationId xmlns:a16="http://schemas.microsoft.com/office/drawing/2014/main" id="{E15E2F52-5056-4CB8-8A4D-9A59EE7B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Pre-funding controls are strongest because the lender can still stop money from leaving.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Post-closing controls help decide whether the loan can be sold, whether a report is needed, whether payments must be blocked or rejected, and whether a cure, indemnification, repurchase, or restriction is needed.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Keep evidence of date/time, source, list version/update date when available, searched identifiers, result, reviewer, disposition, support, escalation, and final action.</a:t>
            </a:r>
          </a:p>
        </p:txBody>
      </p:sp>
      <p:sp>
        <p:nvSpPr>
          <p:cNvPr id="15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102BB804-8787-4CCA-B152-4BD6ECA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0C007D7E-175A-4895-A9B6-41255615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SOURCE ANCHOR</a:t>
            </a:r>
          </a:p>
        </p:txBody>
      </p:sp>
      <p:sp>
        <p:nvSpPr>
          <p:cNvPr id="17" name="source-body">
            <a:extLst xmlns:a="http://schemas.openxmlformats.org/drawingml/2006/main">
              <a:ext uri="{FF2B5EF4-FFF2-40B4-BE49-F238E27FC236}">
                <a16:creationId xmlns:a16="http://schemas.microsoft.com/office/drawing/2014/main" id="{D11792F4-C3A8-41AE-A823-1401D04C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05-when-to-screen.md</a:t>
            </a:r>
          </a:p>
        </p:txBody>
      </p:sp>
      <p:sp>
        <p:nvSpPr>
          <p:cNvPr id="18" name="next-panel">
            <a:extLst xmlns:a="http://schemas.openxmlformats.org/drawingml/2006/main">
              <a:ext uri="{FF2B5EF4-FFF2-40B4-BE49-F238E27FC236}">
                <a16:creationId xmlns:a16="http://schemas.microsoft.com/office/drawing/2014/main" id="{AAA645D3-F138-4D38-BFC8-9E4EF071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1485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next-label">
            <a:extLst xmlns:a="http://schemas.openxmlformats.org/drawingml/2006/main">
              <a:ext uri="{FF2B5EF4-FFF2-40B4-BE49-F238E27FC236}">
                <a16:creationId xmlns:a16="http://schemas.microsoft.com/office/drawing/2014/main" id="{D845DB0A-69C9-4AAB-A2F2-DC9C7F94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NEXT CUE</a:t>
            </a:r>
          </a:p>
        </p:txBody>
      </p:sp>
      <p:sp>
        <p:nvSpPr>
          <p:cNvPr id="20" name="next-body">
            <a:extLst xmlns:a="http://schemas.openxmlformats.org/drawingml/2006/main">
              <a:ext uri="{FF2B5EF4-FFF2-40B4-BE49-F238E27FC236}">
                <a16:creationId xmlns:a16="http://schemas.microsoft.com/office/drawing/2014/main" id="{AAC3C494-9CB8-4859-9A0F-DFEF701C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394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Separate pre-close and post-close mental models.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266DCC2-4EE8-410D-94F9-1FA5D723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PRESENTER INFO - keep this deck on the private monitor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A2F120A-14C3-4755-A086-E4472245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 / 13</a:t>
            </a:r>
          </a:p>
        </p:txBody>
      </p:sp>
    </p:spTree>
    <p:extLst>
      <p:ext uri="{BB962C8B-B14F-4D97-AF65-F5344CB8AC3E}">
        <p14:creationId xmlns:p14="http://schemas.microsoft.com/office/powerpoint/2010/main" val="7765249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vate-strip">
            <a:extLst xmlns:a="http://schemas.openxmlformats.org/drawingml/2006/main">
              <a:ext uri="{FF2B5EF4-FFF2-40B4-BE49-F238E27FC236}">
                <a16:creationId xmlns:a16="http://schemas.microsoft.com/office/drawing/2014/main" id="{15AE8B14-3CFA-4A19-91B7-A53ED9C5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ivate-label">
            <a:extLst xmlns:a="http://schemas.openxmlformats.org/drawingml/2006/main">
              <a:ext uri="{FF2B5EF4-FFF2-40B4-BE49-F238E27FC236}">
                <a16:creationId xmlns:a16="http://schemas.microsoft.com/office/drawing/2014/main" id="{07575B6D-9283-4116-8EC6-AFC0624B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PRESENTER VIEW</a:t>
            </a:r>
          </a:p>
        </p:txBody>
      </p:sp>
      <p:sp>
        <p:nvSpPr>
          <p:cNvPr id="3" name="private-num">
            <a:extLst xmlns:a="http://schemas.openxmlformats.org/drawingml/2006/main">
              <a:ext uri="{FF2B5EF4-FFF2-40B4-BE49-F238E27FC236}">
                <a16:creationId xmlns:a16="http://schemas.microsoft.com/office/drawing/2014/main" id="{8335E610-8286-463D-88E2-D7A20252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"/>
            <a:ext cx="188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Audience slide 09 / 13</a:t>
            </a:r>
          </a:p>
        </p:txBody>
      </p:sp>
      <p:sp>
        <p:nvSpPr>
          <p:cNvPr id="4" name="presenter-title">
            <a:extLst xmlns:a="http://schemas.openxmlformats.org/drawingml/2006/main">
              <a:ext uri="{FF2B5EF4-FFF2-40B4-BE49-F238E27FC236}">
                <a16:creationId xmlns:a16="http://schemas.microsoft.com/office/drawing/2014/main" id="{98ACAA84-1A65-4750-AFA7-C1D00321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"/>
            <a:ext cx="114109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Pre-Close and Post-Close Controls Differ</a:t>
            </a:r>
          </a:p>
        </p:txBody>
      </p:sp>
      <p:sp>
        <p:nvSpPr>
          <p:cNvPr id="5" name="presenter-subtitle">
            <a:extLst xmlns:a="http://schemas.openxmlformats.org/drawingml/2006/main">
              <a:ext uri="{FF2B5EF4-FFF2-40B4-BE49-F238E27FC236}">
                <a16:creationId xmlns:a16="http://schemas.microsoft.com/office/drawing/2014/main" id="{A615F95E-0535-4CF8-8A2E-1C71451C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971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The same screening ecosystem protects different decisions at different points in time.</a:t>
            </a:r>
          </a:p>
        </p:txBody>
      </p:sp>
      <p:sp>
        <p:nvSpPr>
          <p:cNvPr id="6" name="key-panel">
            <a:extLst xmlns:a="http://schemas.openxmlformats.org/drawingml/2006/main">
              <a:ext uri="{FF2B5EF4-FFF2-40B4-BE49-F238E27FC236}">
                <a16:creationId xmlns:a16="http://schemas.microsoft.com/office/drawing/2014/main" id="{70BFB094-5C79-4275-8676-DD403A7F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3543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ey-label">
            <a:extLst xmlns:a="http://schemas.openxmlformats.org/drawingml/2006/main">
              <a:ext uri="{FF2B5EF4-FFF2-40B4-BE49-F238E27FC236}">
                <a16:creationId xmlns:a16="http://schemas.microsoft.com/office/drawing/2014/main" id="{F7EB4BED-4B5B-4928-B1EC-734E9B4F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KEY MESSAGE</a:t>
            </a:r>
          </a:p>
        </p:txBody>
      </p:sp>
      <p:sp>
        <p:nvSpPr>
          <p:cNvPr id="8" name="key-body">
            <a:extLst xmlns:a="http://schemas.openxmlformats.org/drawingml/2006/main">
              <a:ext uri="{FF2B5EF4-FFF2-40B4-BE49-F238E27FC236}">
                <a16:creationId xmlns:a16="http://schemas.microsoft.com/office/drawing/2014/main" id="{DAC9D7F2-1F0B-45A3-8A13-C2F6249B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95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this slide to explain why post-close screening still matters even after money has moved.</a:t>
            </a:r>
          </a:p>
        </p:txBody>
      </p:sp>
      <p:sp>
        <p:nvSpPr>
          <p:cNvPr id="9" name="say-panel">
            <a:extLst xmlns:a="http://schemas.openxmlformats.org/drawingml/2006/main">
              <a:ext uri="{FF2B5EF4-FFF2-40B4-BE49-F238E27FC236}">
                <a16:creationId xmlns:a16="http://schemas.microsoft.com/office/drawing/2014/main" id="{E20068F8-5B7D-4235-B716-E77AD6C1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ay-label">
            <a:extLst xmlns:a="http://schemas.openxmlformats.org/drawingml/2006/main">
              <a:ext uri="{FF2B5EF4-FFF2-40B4-BE49-F238E27FC236}">
                <a16:creationId xmlns:a16="http://schemas.microsoft.com/office/drawing/2014/main" id="{E28AE178-D913-433C-9575-A28D662F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TALK TRACK</a:t>
            </a:r>
          </a:p>
        </p:txBody>
      </p:sp>
      <p:sp>
        <p:nvSpPr>
          <p:cNvPr id="11" name="say-body">
            <a:extLst xmlns:a="http://schemas.openxmlformats.org/drawingml/2006/main">
              <a:ext uri="{FF2B5EF4-FFF2-40B4-BE49-F238E27FC236}">
                <a16:creationId xmlns:a16="http://schemas.microsoft.com/office/drawing/2014/main" id="{956E6799-9890-4D0C-852F-28EF1BB5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Before closing, the lender is trying not to fund a loan it should not fund.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After closing, the lender is managing sale, servicing, reporting, sanctions changes, quality control findings, and repurchase or indemnification exposure.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The question changes, but the discipline remains: screen, resolve, document.</a:t>
            </a:r>
          </a:p>
        </p:txBody>
      </p:sp>
      <p:sp>
        <p:nvSpPr>
          <p:cNvPr id="12" name="detail-panel">
            <a:extLst xmlns:a="http://schemas.openxmlformats.org/drawingml/2006/main">
              <a:ext uri="{FF2B5EF4-FFF2-40B4-BE49-F238E27FC236}">
                <a16:creationId xmlns:a16="http://schemas.microsoft.com/office/drawing/2014/main" id="{D51E09BD-1ECA-4570-8034-D5ADAE98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92963F5F-AC0C-4B17-B768-AB85C955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DETAILS / CAUTIONS</a:t>
            </a:r>
          </a:p>
        </p:txBody>
      </p:sp>
      <p:sp>
        <p:nvSpPr>
          <p:cNvPr id="14" name="detail-body">
            <a:extLst xmlns:a="http://schemas.openxmlformats.org/drawingml/2006/main">
              <a:ext uri="{FF2B5EF4-FFF2-40B4-BE49-F238E27FC236}">
                <a16:creationId xmlns:a16="http://schemas.microsoft.com/office/drawing/2014/main" id="{4278155F-7A31-48C5-866A-7143B3BA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Pre-close examples: sanctioned party, excluded appraiser, borrower ineligible for government program, identity theft, fabricated income, occupancy fraud, valuation or relationship issues.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Post-close examples: investor audit, early payment default, QC re-verification, borrower complaint, servicing contact, returned mail, payment pattern, third-party tip.</a:t>
            </a:r>
          </a:p>
        </p:txBody>
      </p:sp>
      <p:sp>
        <p:nvSpPr>
          <p:cNvPr id="15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0A20F076-DF12-442A-81ED-E63AB8E8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A1D02AF3-215F-4E3C-8FB3-9AEC0A64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SOURCE ANCHOR</a:t>
            </a:r>
          </a:p>
        </p:txBody>
      </p:sp>
      <p:sp>
        <p:nvSpPr>
          <p:cNvPr id="17" name="source-body">
            <a:extLst xmlns:a="http://schemas.openxmlformats.org/drawingml/2006/main">
              <a:ext uri="{FF2B5EF4-FFF2-40B4-BE49-F238E27FC236}">
                <a16:creationId xmlns:a16="http://schemas.microsoft.com/office/drawing/2014/main" id="{286BDE82-E802-4014-A8C9-E1730FA7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72209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05-when-to-screen.md; 03-fraudguard-and-fraud-tools.md</a:t>
            </a:r>
          </a:p>
        </p:txBody>
      </p:sp>
      <p:sp>
        <p:nvSpPr>
          <p:cNvPr id="18" name="next-panel">
            <a:extLst xmlns:a="http://schemas.openxmlformats.org/drawingml/2006/main">
              <a:ext uri="{FF2B5EF4-FFF2-40B4-BE49-F238E27FC236}">
                <a16:creationId xmlns:a16="http://schemas.microsoft.com/office/drawing/2014/main" id="{A96107A5-3F48-4DB0-94D1-687BCC5D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1485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next-label">
            <a:extLst xmlns:a="http://schemas.openxmlformats.org/drawingml/2006/main">
              <a:ext uri="{FF2B5EF4-FFF2-40B4-BE49-F238E27FC236}">
                <a16:creationId xmlns:a16="http://schemas.microsoft.com/office/drawing/2014/main" id="{E3149E46-A625-47C4-9571-D64C8D62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NEXT CUE</a:t>
            </a:r>
          </a:p>
        </p:txBody>
      </p:sp>
      <p:sp>
        <p:nvSpPr>
          <p:cNvPr id="20" name="next-body">
            <a:extLst xmlns:a="http://schemas.openxmlformats.org/drawingml/2006/main">
              <a:ext uri="{FF2B5EF4-FFF2-40B4-BE49-F238E27FC236}">
                <a16:creationId xmlns:a16="http://schemas.microsoft.com/office/drawing/2014/main" id="{CB98156E-CAF6-41CD-8067-6B2064FA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Now give the operating playbook for a hit.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06CA60E-024F-4AD7-8514-E4697A8F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PRESENTER INFO - keep this deck on the private monitor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9091770-8EE6-4D49-BCA3-94528195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 / 13</a:t>
            </a:r>
          </a:p>
        </p:txBody>
      </p:sp>
    </p:spTree>
    <p:extLst>
      <p:ext uri="{BB962C8B-B14F-4D97-AF65-F5344CB8AC3E}">
        <p14:creationId xmlns:p14="http://schemas.microsoft.com/office/powerpoint/2010/main" val="16743023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vate-strip">
            <a:extLst xmlns:a="http://schemas.openxmlformats.org/drawingml/2006/main">
              <a:ext uri="{FF2B5EF4-FFF2-40B4-BE49-F238E27FC236}">
                <a16:creationId xmlns:a16="http://schemas.microsoft.com/office/drawing/2014/main" id="{9A8D9563-02AE-4853-B0DA-90A34188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ivate-label">
            <a:extLst xmlns:a="http://schemas.openxmlformats.org/drawingml/2006/main">
              <a:ext uri="{FF2B5EF4-FFF2-40B4-BE49-F238E27FC236}">
                <a16:creationId xmlns:a16="http://schemas.microsoft.com/office/drawing/2014/main" id="{13ECEC4B-B2AC-4DFF-B17E-717F1643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PRESENTER VIEW</a:t>
            </a:r>
          </a:p>
        </p:txBody>
      </p:sp>
      <p:sp>
        <p:nvSpPr>
          <p:cNvPr id="3" name="private-num">
            <a:extLst xmlns:a="http://schemas.openxmlformats.org/drawingml/2006/main">
              <a:ext uri="{FF2B5EF4-FFF2-40B4-BE49-F238E27FC236}">
                <a16:creationId xmlns:a16="http://schemas.microsoft.com/office/drawing/2014/main" id="{D21E8A7B-EAC1-4C3A-8074-6DDA1C7D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"/>
            <a:ext cx="188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Audience slide 10 / 13</a:t>
            </a:r>
          </a:p>
        </p:txBody>
      </p:sp>
      <p:sp>
        <p:nvSpPr>
          <p:cNvPr id="4" name="presenter-title">
            <a:extLst xmlns:a="http://schemas.openxmlformats.org/drawingml/2006/main">
              <a:ext uri="{FF2B5EF4-FFF2-40B4-BE49-F238E27FC236}">
                <a16:creationId xmlns:a16="http://schemas.microsoft.com/office/drawing/2014/main" id="{5DCDFAA4-335B-47E4-8E15-A0B95282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"/>
            <a:ext cx="114109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Hit Needs a Controlled Disposition</a:t>
            </a:r>
          </a:p>
        </p:txBody>
      </p:sp>
      <p:sp>
        <p:nvSpPr>
          <p:cNvPr id="5" name="presenter-subtitle">
            <a:extLst xmlns:a="http://schemas.openxmlformats.org/drawingml/2006/main">
              <a:ext uri="{FF2B5EF4-FFF2-40B4-BE49-F238E27FC236}">
                <a16:creationId xmlns:a16="http://schemas.microsoft.com/office/drawing/2014/main" id="{47D9528F-6E29-47BA-974D-F5452D62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971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Classify the hit, verify the identity, then decide the disposition.</a:t>
            </a:r>
          </a:p>
        </p:txBody>
      </p:sp>
      <p:sp>
        <p:nvSpPr>
          <p:cNvPr id="6" name="key-panel">
            <a:extLst xmlns:a="http://schemas.openxmlformats.org/drawingml/2006/main">
              <a:ext uri="{FF2B5EF4-FFF2-40B4-BE49-F238E27FC236}">
                <a16:creationId xmlns:a16="http://schemas.microsoft.com/office/drawing/2014/main" id="{15A3E683-FB5E-4E42-8A9F-DC288F52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3543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ey-label">
            <a:extLst xmlns:a="http://schemas.openxmlformats.org/drawingml/2006/main">
              <a:ext uri="{FF2B5EF4-FFF2-40B4-BE49-F238E27FC236}">
                <a16:creationId xmlns:a16="http://schemas.microsoft.com/office/drawing/2014/main" id="{F59BA046-9D69-4210-98B7-F5EF360F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KEY MESSAGE</a:t>
            </a:r>
          </a:p>
        </p:txBody>
      </p:sp>
      <p:sp>
        <p:nvSpPr>
          <p:cNvPr id="8" name="key-body">
            <a:extLst xmlns:a="http://schemas.openxmlformats.org/drawingml/2006/main">
              <a:ext uri="{FF2B5EF4-FFF2-40B4-BE49-F238E27FC236}">
                <a16:creationId xmlns:a16="http://schemas.microsoft.com/office/drawing/2014/main" id="{349C8E08-545B-4FAA-9498-63BD25FD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95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playbook is the practical operating model.</a:t>
            </a:r>
          </a:p>
        </p:txBody>
      </p:sp>
      <p:sp>
        <p:nvSpPr>
          <p:cNvPr id="9" name="say-panel">
            <a:extLst xmlns:a="http://schemas.openxmlformats.org/drawingml/2006/main">
              <a:ext uri="{FF2B5EF4-FFF2-40B4-BE49-F238E27FC236}">
                <a16:creationId xmlns:a16="http://schemas.microsoft.com/office/drawing/2014/main" id="{826176A9-DCC5-4381-8995-D62A48ED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ay-label">
            <a:extLst xmlns:a="http://schemas.openxmlformats.org/drawingml/2006/main">
              <a:ext uri="{FF2B5EF4-FFF2-40B4-BE49-F238E27FC236}">
                <a16:creationId xmlns:a16="http://schemas.microsoft.com/office/drawing/2014/main" id="{4F17D250-9723-41B6-9F00-894843BB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TALK TRACK</a:t>
            </a:r>
          </a:p>
        </p:txBody>
      </p:sp>
      <p:sp>
        <p:nvSpPr>
          <p:cNvPr id="11" name="say-body">
            <a:extLst xmlns:a="http://schemas.openxmlformats.org/drawingml/2006/main">
              <a:ext uri="{FF2B5EF4-FFF2-40B4-BE49-F238E27FC236}">
                <a16:creationId xmlns:a16="http://schemas.microsoft.com/office/drawing/2014/main" id="{4921A91F-A770-4069-8DD4-CCD16DBA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First ask what type of hit this is. Do not start with the final action.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Then verify identity or entity data. Name alone is not enough.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Finally assign a disposition and keep evidence of why that disposition is valid.</a:t>
            </a:r>
          </a:p>
        </p:txBody>
      </p:sp>
      <p:sp>
        <p:nvSpPr>
          <p:cNvPr id="12" name="detail-panel">
            <a:extLst xmlns:a="http://schemas.openxmlformats.org/drawingml/2006/main">
              <a:ext uri="{FF2B5EF4-FFF2-40B4-BE49-F238E27FC236}">
                <a16:creationId xmlns:a16="http://schemas.microsoft.com/office/drawing/2014/main" id="{52E3B766-9958-4CA9-93BF-B6732E5C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7E0F8196-3F92-4BCA-88C7-F26054F0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DETAILS / CAUTIONS</a:t>
            </a:r>
          </a:p>
        </p:txBody>
      </p:sp>
      <p:sp>
        <p:nvSpPr>
          <p:cNvPr id="14" name="detail-body">
            <a:extLst xmlns:a="http://schemas.openxmlformats.org/drawingml/2006/main">
              <a:ext uri="{FF2B5EF4-FFF2-40B4-BE49-F238E27FC236}">
                <a16:creationId xmlns:a16="http://schemas.microsoft.com/office/drawing/2014/main" id="{1E7876B9-BC81-4994-B873-D547E3C2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93464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Common dispositions: false positive, cleared with documentation, more information required, escalated to compliance, escalated to fraud investigation, party removed/replaced, loan suspended, declined/not eligible, transaction blocked/rejected, report filed, investor/agency notified, internal watchlist updated.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OFAC possible hit: compare identifiers, escalate, document false-positive rationale.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True OFAC hit: stop process; do not fund/pay/transfer/close without compliance/legal clearance.</a:t>
            </a:r>
          </a:p>
        </p:txBody>
      </p:sp>
      <p:sp>
        <p:nvSpPr>
          <p:cNvPr id="15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01F494A4-D119-4F90-9F02-4F94CFE6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17E0FE8A-1483-4658-ACEA-2AAAF4A8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SOURCE ANCHOR</a:t>
            </a:r>
          </a:p>
        </p:txBody>
      </p:sp>
      <p:sp>
        <p:nvSpPr>
          <p:cNvPr id="17" name="source-body">
            <a:extLst xmlns:a="http://schemas.openxmlformats.org/drawingml/2006/main">
              <a:ext uri="{FF2B5EF4-FFF2-40B4-BE49-F238E27FC236}">
                <a16:creationId xmlns:a16="http://schemas.microsoft.com/office/drawing/2014/main" id="{ECDA63B8-6852-4BB5-B586-7394282B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06-hit-handling-playbook.md</a:t>
            </a:r>
          </a:p>
        </p:txBody>
      </p:sp>
      <p:sp>
        <p:nvSpPr>
          <p:cNvPr id="18" name="next-panel">
            <a:extLst xmlns:a="http://schemas.openxmlformats.org/drawingml/2006/main">
              <a:ext uri="{FF2B5EF4-FFF2-40B4-BE49-F238E27FC236}">
                <a16:creationId xmlns:a16="http://schemas.microsoft.com/office/drawing/2014/main" id="{57F6FA64-C384-4422-800C-7017B724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1485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next-label">
            <a:extLst xmlns:a="http://schemas.openxmlformats.org/drawingml/2006/main">
              <a:ext uri="{FF2B5EF4-FFF2-40B4-BE49-F238E27FC236}">
                <a16:creationId xmlns:a16="http://schemas.microsoft.com/office/drawing/2014/main" id="{5AA95CF4-2BF2-4350-9F6C-028487D1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NEXT CUE</a:t>
            </a:r>
          </a:p>
        </p:txBody>
      </p:sp>
      <p:sp>
        <p:nvSpPr>
          <p:cNvPr id="20" name="next-body">
            <a:extLst xmlns:a="http://schemas.openxmlformats.org/drawingml/2006/main">
              <a:ext uri="{FF2B5EF4-FFF2-40B4-BE49-F238E27FC236}">
                <a16:creationId xmlns:a16="http://schemas.microsoft.com/office/drawing/2014/main" id="{568E1436-6830-40A7-887A-AC952FF3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2047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Turn the playbook into the documentation standard.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24153A9-FB6A-439E-A72D-B16BE705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PRESENTER INFO - keep this deck on the private monitor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F91E7B6-3F8D-4476-8F55-9DC8E5E1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20882243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vate-strip">
            <a:extLst xmlns:a="http://schemas.openxmlformats.org/drawingml/2006/main">
              <a:ext uri="{FF2B5EF4-FFF2-40B4-BE49-F238E27FC236}">
                <a16:creationId xmlns:a16="http://schemas.microsoft.com/office/drawing/2014/main" id="{029B1325-17CD-4172-8D8F-2FD02F6A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ivate-label">
            <a:extLst xmlns:a="http://schemas.openxmlformats.org/drawingml/2006/main">
              <a:ext uri="{FF2B5EF4-FFF2-40B4-BE49-F238E27FC236}">
                <a16:creationId xmlns:a16="http://schemas.microsoft.com/office/drawing/2014/main" id="{7D17A314-DBE9-45DC-9C37-4ACE4DCF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PRESENTER VIEW</a:t>
            </a:r>
          </a:p>
        </p:txBody>
      </p:sp>
      <p:sp>
        <p:nvSpPr>
          <p:cNvPr id="3" name="private-num">
            <a:extLst xmlns:a="http://schemas.openxmlformats.org/drawingml/2006/main">
              <a:ext uri="{FF2B5EF4-FFF2-40B4-BE49-F238E27FC236}">
                <a16:creationId xmlns:a16="http://schemas.microsoft.com/office/drawing/2014/main" id="{1389CAC6-E583-4148-B22C-F2B9E648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"/>
            <a:ext cx="188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Audience slide 11 / 13</a:t>
            </a:r>
          </a:p>
        </p:txBody>
      </p:sp>
      <p:sp>
        <p:nvSpPr>
          <p:cNvPr id="4" name="presenter-title">
            <a:extLst xmlns:a="http://schemas.openxmlformats.org/drawingml/2006/main">
              <a:ext uri="{FF2B5EF4-FFF2-40B4-BE49-F238E27FC236}">
                <a16:creationId xmlns:a16="http://schemas.microsoft.com/office/drawing/2014/main" id="{3A827475-4473-4388-A847-365ACCB2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"/>
            <a:ext cx="114109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Good Documentation Explains the Clearance</a:t>
            </a:r>
          </a:p>
        </p:txBody>
      </p:sp>
      <p:sp>
        <p:nvSpPr>
          <p:cNvPr id="5" name="presenter-subtitle">
            <a:extLst xmlns:a="http://schemas.openxmlformats.org/drawingml/2006/main">
              <a:ext uri="{FF2B5EF4-FFF2-40B4-BE49-F238E27FC236}">
                <a16:creationId xmlns:a16="http://schemas.microsoft.com/office/drawing/2014/main" id="{07741DE4-AFFF-4862-BF88-3B7E06C5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971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The audit trail should make the decision understandable later.</a:t>
            </a:r>
          </a:p>
        </p:txBody>
      </p:sp>
      <p:sp>
        <p:nvSpPr>
          <p:cNvPr id="6" name="key-panel">
            <a:extLst xmlns:a="http://schemas.openxmlformats.org/drawingml/2006/main">
              <a:ext uri="{FF2B5EF4-FFF2-40B4-BE49-F238E27FC236}">
                <a16:creationId xmlns:a16="http://schemas.microsoft.com/office/drawing/2014/main" id="{3F35FCD5-8959-425E-843A-3036E272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3543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ey-label">
            <a:extLst xmlns:a="http://schemas.openxmlformats.org/drawingml/2006/main">
              <a:ext uri="{FF2B5EF4-FFF2-40B4-BE49-F238E27FC236}">
                <a16:creationId xmlns:a16="http://schemas.microsoft.com/office/drawing/2014/main" id="{56AED8E2-A10E-431A-B009-8B509328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KEY MESSAGE</a:t>
            </a:r>
          </a:p>
        </p:txBody>
      </p:sp>
      <p:sp>
        <p:nvSpPr>
          <p:cNvPr id="8" name="key-body">
            <a:extLst xmlns:a="http://schemas.openxmlformats.org/drawingml/2006/main">
              <a:ext uri="{FF2B5EF4-FFF2-40B4-BE49-F238E27FC236}">
                <a16:creationId xmlns:a16="http://schemas.microsoft.com/office/drawing/2014/main" id="{EB7D321E-A4D3-4D20-8DE0-CAF85642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95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4389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Documentation is part of the control, not an administrative afterthought.</a:t>
            </a:r>
          </a:p>
        </p:txBody>
      </p:sp>
      <p:sp>
        <p:nvSpPr>
          <p:cNvPr id="9" name="say-panel">
            <a:extLst xmlns:a="http://schemas.openxmlformats.org/drawingml/2006/main">
              <a:ext uri="{FF2B5EF4-FFF2-40B4-BE49-F238E27FC236}">
                <a16:creationId xmlns:a16="http://schemas.microsoft.com/office/drawing/2014/main" id="{E5CAA994-33EC-4EA8-8D2C-16F41CC8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ay-label">
            <a:extLst xmlns:a="http://schemas.openxmlformats.org/drawingml/2006/main">
              <a:ext uri="{FF2B5EF4-FFF2-40B4-BE49-F238E27FC236}">
                <a16:creationId xmlns:a16="http://schemas.microsoft.com/office/drawing/2014/main" id="{E705A2A2-DD49-47FD-9138-48C4A05B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TALK TRACK</a:t>
            </a:r>
          </a:p>
        </p:txBody>
      </p:sp>
      <p:sp>
        <p:nvSpPr>
          <p:cNvPr id="11" name="say-body">
            <a:extLst xmlns:a="http://schemas.openxmlformats.org/drawingml/2006/main">
              <a:ext uri="{FF2B5EF4-FFF2-40B4-BE49-F238E27FC236}">
                <a16:creationId xmlns:a16="http://schemas.microsoft.com/office/drawing/2014/main" id="{9EBE0A7B-0DFC-48BA-A4D2-52C7AFD4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A good note should let a future reviewer understand the hit, the evidence, the rule, the reviewer, the disposition, and the rationale.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The documentation standard is different from a one-word clearance.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For OFAC false positives, state which identifiers did not match and who cleared it.</a:t>
            </a:r>
          </a:p>
        </p:txBody>
      </p:sp>
      <p:sp>
        <p:nvSpPr>
          <p:cNvPr id="12" name="detail-panel">
            <a:extLst xmlns:a="http://schemas.openxmlformats.org/drawingml/2006/main">
              <a:ext uri="{FF2B5EF4-FFF2-40B4-BE49-F238E27FC236}">
                <a16:creationId xmlns:a16="http://schemas.microsoft.com/office/drawing/2014/main" id="{6C7A4E5D-AB6A-461A-8D68-ECEC307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1FDDB7DE-F761-40A7-9899-4CC6892A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DETAILS / CAUTIONS</a:t>
            </a:r>
          </a:p>
        </p:txBody>
      </p:sp>
      <p:sp>
        <p:nvSpPr>
          <p:cNvPr id="14" name="detail-body">
            <a:extLst xmlns:a="http://schemas.openxmlformats.org/drawingml/2006/main">
              <a:ext uri="{FF2B5EF4-FFF2-40B4-BE49-F238E27FC236}">
                <a16:creationId xmlns:a16="http://schemas.microsoft.com/office/drawing/2014/main" id="{C5F61E59-191B-4677-B441-7118086A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Example from source: same-name OFAC possible match reviewed; DOB, address, nationality, and alias data do not match OFAC record; compliance reviewer cleared as false positive on 2026-06-28; evidence retained in file.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For every screen, keep date/time, list or vendor source, source version/update date when available, searched identifiers, result, reviewer, disposition, supporting docs, escalation notes, and final clearance/action.</a:t>
            </a:r>
          </a:p>
        </p:txBody>
      </p:sp>
      <p:sp>
        <p:nvSpPr>
          <p:cNvPr id="15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8948CAEC-11B9-422C-99E3-0DF6FC5C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172FDE5B-89EA-44DB-A54C-EE1F9A05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SOURCE ANCHOR</a:t>
            </a:r>
          </a:p>
        </p:txBody>
      </p:sp>
      <p:sp>
        <p:nvSpPr>
          <p:cNvPr id="17" name="source-body">
            <a:extLst xmlns:a="http://schemas.openxmlformats.org/drawingml/2006/main">
              <a:ext uri="{FF2B5EF4-FFF2-40B4-BE49-F238E27FC236}">
                <a16:creationId xmlns:a16="http://schemas.microsoft.com/office/drawing/2014/main" id="{DC171A74-C1A0-4952-AABC-9B91F099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7962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06-hit-handling-playbook.md; 05-when-to-screen.md</a:t>
            </a:r>
          </a:p>
        </p:txBody>
      </p:sp>
      <p:sp>
        <p:nvSpPr>
          <p:cNvPr id="18" name="next-panel">
            <a:extLst xmlns:a="http://schemas.openxmlformats.org/drawingml/2006/main">
              <a:ext uri="{FF2B5EF4-FFF2-40B4-BE49-F238E27FC236}">
                <a16:creationId xmlns:a16="http://schemas.microsoft.com/office/drawing/2014/main" id="{F5BA5580-41A6-44C6-BB42-150AB36F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1485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next-label">
            <a:extLst xmlns:a="http://schemas.openxmlformats.org/drawingml/2006/main">
              <a:ext uri="{FF2B5EF4-FFF2-40B4-BE49-F238E27FC236}">
                <a16:creationId xmlns:a16="http://schemas.microsoft.com/office/drawing/2014/main" id="{1CB31B4D-B356-4769-8232-6EC2ED75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NEXT CUE</a:t>
            </a:r>
          </a:p>
        </p:txBody>
      </p:sp>
      <p:sp>
        <p:nvSpPr>
          <p:cNvPr id="20" name="next-body">
            <a:extLst xmlns:a="http://schemas.openxmlformats.org/drawingml/2006/main">
              <a:ext uri="{FF2B5EF4-FFF2-40B4-BE49-F238E27FC236}">
                <a16:creationId xmlns:a16="http://schemas.microsoft.com/office/drawing/2014/main" id="{92692817-9C57-4BAB-AAD5-60C6960E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77684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Close with the simple habit that should guide every hit.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DC59037-1F1E-4736-BEAB-52A6DBD4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PRESENTER INFO - keep this deck on the private monitor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A50146F-552E-4FC4-93C2-84251708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6576784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vate-strip">
            <a:extLst xmlns:a="http://schemas.openxmlformats.org/drawingml/2006/main">
              <a:ext uri="{FF2B5EF4-FFF2-40B4-BE49-F238E27FC236}">
                <a16:creationId xmlns:a16="http://schemas.microsoft.com/office/drawing/2014/main" id="{D2E0C809-A0A9-4DA2-BFA6-FAEC5AA4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ivate-label">
            <a:extLst xmlns:a="http://schemas.openxmlformats.org/drawingml/2006/main">
              <a:ext uri="{FF2B5EF4-FFF2-40B4-BE49-F238E27FC236}">
                <a16:creationId xmlns:a16="http://schemas.microsoft.com/office/drawing/2014/main" id="{FCFCE5D8-6001-43A3-AF56-5C7C6610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PRESENTER VIEW</a:t>
            </a:r>
          </a:p>
        </p:txBody>
      </p:sp>
      <p:sp>
        <p:nvSpPr>
          <p:cNvPr id="3" name="private-num">
            <a:extLst xmlns:a="http://schemas.openxmlformats.org/drawingml/2006/main">
              <a:ext uri="{FF2B5EF4-FFF2-40B4-BE49-F238E27FC236}">
                <a16:creationId xmlns:a16="http://schemas.microsoft.com/office/drawing/2014/main" id="{4F802BCA-CC43-49E0-9604-35F52DFB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"/>
            <a:ext cx="188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Audience slide 12 / 13</a:t>
            </a:r>
          </a:p>
        </p:txBody>
      </p:sp>
      <p:sp>
        <p:nvSpPr>
          <p:cNvPr id="4" name="presenter-title">
            <a:extLst xmlns:a="http://schemas.openxmlformats.org/drawingml/2006/main">
              <a:ext uri="{FF2B5EF4-FFF2-40B4-BE49-F238E27FC236}">
                <a16:creationId xmlns:a16="http://schemas.microsoft.com/office/drawing/2014/main" id="{DF0A381B-E026-4C15-80DF-1C92F594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"/>
            <a:ext cx="114109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Resolve, Escalate, or Stop Each Hit</a:t>
            </a:r>
          </a:p>
        </p:txBody>
      </p:sp>
      <p:sp>
        <p:nvSpPr>
          <p:cNvPr id="5" name="presenter-subtitle">
            <a:extLst xmlns:a="http://schemas.openxmlformats.org/drawingml/2006/main">
              <a:ext uri="{FF2B5EF4-FFF2-40B4-BE49-F238E27FC236}">
                <a16:creationId xmlns:a16="http://schemas.microsoft.com/office/drawing/2014/main" id="{A280700F-E65A-4AB3-ADAB-3B400CF1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971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 hit should never become ignored.</a:t>
            </a:r>
          </a:p>
        </p:txBody>
      </p:sp>
      <p:sp>
        <p:nvSpPr>
          <p:cNvPr id="6" name="key-panel">
            <a:extLst xmlns:a="http://schemas.openxmlformats.org/drawingml/2006/main">
              <a:ext uri="{FF2B5EF4-FFF2-40B4-BE49-F238E27FC236}">
                <a16:creationId xmlns:a16="http://schemas.microsoft.com/office/drawing/2014/main" id="{DA5D8319-7864-4937-B887-4955D36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3543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ey-label">
            <a:extLst xmlns:a="http://schemas.openxmlformats.org/drawingml/2006/main">
              <a:ext uri="{FF2B5EF4-FFF2-40B4-BE49-F238E27FC236}">
                <a16:creationId xmlns:a16="http://schemas.microsoft.com/office/drawing/2014/main" id="{F3C1D92F-C0AE-4B2D-87E5-075B96E4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KEY MESSAGE</a:t>
            </a:r>
          </a:p>
        </p:txBody>
      </p:sp>
      <p:sp>
        <p:nvSpPr>
          <p:cNvPr id="8" name="key-body">
            <a:extLst xmlns:a="http://schemas.openxmlformats.org/drawingml/2006/main">
              <a:ext uri="{FF2B5EF4-FFF2-40B4-BE49-F238E27FC236}">
                <a16:creationId xmlns:a16="http://schemas.microsoft.com/office/drawing/2014/main" id="{4DC0BC15-D3AB-496B-A0C4-057C6F1C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95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End on a rule of thumb people can remember under pressure.</a:t>
            </a:r>
          </a:p>
        </p:txBody>
      </p:sp>
      <p:sp>
        <p:nvSpPr>
          <p:cNvPr id="9" name="say-panel">
            <a:extLst xmlns:a="http://schemas.openxmlformats.org/drawingml/2006/main">
              <a:ext uri="{FF2B5EF4-FFF2-40B4-BE49-F238E27FC236}">
                <a16:creationId xmlns:a16="http://schemas.microsoft.com/office/drawing/2014/main" id="{D398304B-C6D9-4C40-BAA1-BBD2619D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ay-label">
            <a:extLst xmlns:a="http://schemas.openxmlformats.org/drawingml/2006/main">
              <a:ext uri="{FF2B5EF4-FFF2-40B4-BE49-F238E27FC236}">
                <a16:creationId xmlns:a16="http://schemas.microsoft.com/office/drawing/2014/main" id="{DABE706B-8F0A-4DC0-B234-15663C71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TALK TRACK</a:t>
            </a:r>
          </a:p>
        </p:txBody>
      </p:sp>
      <p:sp>
        <p:nvSpPr>
          <p:cNvPr id="11" name="say-body">
            <a:extLst xmlns:a="http://schemas.openxmlformats.org/drawingml/2006/main">
              <a:ext uri="{FF2B5EF4-FFF2-40B4-BE49-F238E27FC236}">
                <a16:creationId xmlns:a16="http://schemas.microsoft.com/office/drawing/2014/main" id="{B2D69191-6352-4FA8-93A8-5893C60B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Every hit should become resolved, escalated, or stopped.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Resolved does not mean casually cleared. It means supported by facts and evidence.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Escalated does not mean panic. It means the right owner and policy path takes over.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Stopped does not always mean loan denied; it can mean party removed, transaction suspended, or funding paused until clearance.</a:t>
            </a:r>
          </a:p>
        </p:txBody>
      </p:sp>
      <p:sp>
        <p:nvSpPr>
          <p:cNvPr id="12" name="detail-panel">
            <a:extLst xmlns:a="http://schemas.openxmlformats.org/drawingml/2006/main">
              <a:ext uri="{FF2B5EF4-FFF2-40B4-BE49-F238E27FC236}">
                <a16:creationId xmlns:a16="http://schemas.microsoft.com/office/drawing/2014/main" id="{CE5CE454-9F7F-4D03-A1BD-BA6A66D3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66732031-541F-4678-B0ED-CF60800F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DETAILS / CAUTIONS</a:t>
            </a:r>
          </a:p>
        </p:txBody>
      </p:sp>
      <p:sp>
        <p:nvSpPr>
          <p:cNvPr id="14" name="detail-body">
            <a:extLst xmlns:a="http://schemas.openxmlformats.org/drawingml/2006/main">
              <a:ext uri="{FF2B5EF4-FFF2-40B4-BE49-F238E27FC236}">
                <a16:creationId xmlns:a16="http://schemas.microsoft.com/office/drawing/2014/main" id="{C0977F97-1A76-4A68-9EAD-29B50736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For SAR/AML: covered mortgage lenders and originators may have AML program and suspicious activity reporting obligations.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Do not tell the borrower or transaction party that a SAR was or may be filed.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Escalate internally according to AML policy.</a:t>
            </a:r>
          </a:p>
        </p:txBody>
      </p:sp>
      <p:sp>
        <p:nvSpPr>
          <p:cNvPr id="15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A6E473F0-1F51-4F06-8032-8CA73CB4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5BA2A5FC-8C32-4E3A-805F-79B34ACD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SOURCE ANCHOR</a:t>
            </a:r>
          </a:p>
        </p:txBody>
      </p:sp>
      <p:sp>
        <p:nvSpPr>
          <p:cNvPr id="17" name="source-body">
            <a:extLst xmlns:a="http://schemas.openxmlformats.org/drawingml/2006/main">
              <a:ext uri="{FF2B5EF4-FFF2-40B4-BE49-F238E27FC236}">
                <a16:creationId xmlns:a16="http://schemas.microsoft.com/office/drawing/2014/main" id="{48064EE0-0CDC-490E-9781-5485EEFD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6770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06-hit-handling-playbook.md; FinCEN mortgage companies and brokers resources</a:t>
            </a:r>
          </a:p>
        </p:txBody>
      </p:sp>
      <p:sp>
        <p:nvSpPr>
          <p:cNvPr id="18" name="next-panel">
            <a:extLst xmlns:a="http://schemas.openxmlformats.org/drawingml/2006/main">
              <a:ext uri="{FF2B5EF4-FFF2-40B4-BE49-F238E27FC236}">
                <a16:creationId xmlns:a16="http://schemas.microsoft.com/office/drawing/2014/main" id="{10964135-5F34-478E-A5BE-59818652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1485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next-label">
            <a:extLst xmlns:a="http://schemas.openxmlformats.org/drawingml/2006/main">
              <a:ext uri="{FF2B5EF4-FFF2-40B4-BE49-F238E27FC236}">
                <a16:creationId xmlns:a16="http://schemas.microsoft.com/office/drawing/2014/main" id="{37DBD56B-0C25-45B6-AE63-7DF6744C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NEXT CUE</a:t>
            </a:r>
          </a:p>
        </p:txBody>
      </p:sp>
      <p:sp>
        <p:nvSpPr>
          <p:cNvPr id="20" name="next-body">
            <a:extLst xmlns:a="http://schemas.openxmlformats.org/drawingml/2006/main">
              <a:ext uri="{FF2B5EF4-FFF2-40B4-BE49-F238E27FC236}">
                <a16:creationId xmlns:a16="http://schemas.microsoft.com/office/drawing/2014/main" id="{DF9B97A3-46E0-4070-A43D-93026AE8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6770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Use the source slide only if the audience asks where to verify current rules.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689DFA1-79DE-4D72-9B7E-0DF82E44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PRESENTER INFO - keep this deck on the private monitor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DA88F73D-5219-4FCB-AE71-F4FDBFD2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11789814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ivate-strip">
            <a:extLst xmlns:a="http://schemas.openxmlformats.org/drawingml/2006/main">
              <a:ext uri="{FF2B5EF4-FFF2-40B4-BE49-F238E27FC236}">
                <a16:creationId xmlns:a16="http://schemas.microsoft.com/office/drawing/2014/main" id="{A2FEB7E9-4039-4CD1-9288-0D46DF52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ivate-label">
            <a:extLst xmlns:a="http://schemas.openxmlformats.org/drawingml/2006/main">
              <a:ext uri="{FF2B5EF4-FFF2-40B4-BE49-F238E27FC236}">
                <a16:creationId xmlns:a16="http://schemas.microsoft.com/office/drawing/2014/main" id="{21F29887-3C9E-4F29-9829-4A8B5C1E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6675"/>
            <a:ext cx="3429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PRESENTER VIEW</a:t>
            </a:r>
          </a:p>
        </p:txBody>
      </p:sp>
      <p:sp>
        <p:nvSpPr>
          <p:cNvPr id="3" name="private-num">
            <a:extLst xmlns:a="http://schemas.openxmlformats.org/drawingml/2006/main">
              <a:ext uri="{FF2B5EF4-FFF2-40B4-BE49-F238E27FC236}">
                <a16:creationId xmlns:a16="http://schemas.microsoft.com/office/drawing/2014/main" id="{BD509201-D703-45B6-B988-19BBD942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675"/>
            <a:ext cx="1885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Audience slide 13 / 13</a:t>
            </a:r>
          </a:p>
        </p:txBody>
      </p:sp>
      <p:sp>
        <p:nvSpPr>
          <p:cNvPr id="4" name="presenter-title">
            <a:extLst xmlns:a="http://schemas.openxmlformats.org/drawingml/2006/main">
              <a:ext uri="{FF2B5EF4-FFF2-40B4-BE49-F238E27FC236}">
                <a16:creationId xmlns:a16="http://schemas.microsoft.com/office/drawing/2014/main" id="{71DB2726-5A90-4ED4-A14D-3DCC87F7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200"/>
            <a:ext cx="114109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Current Official Sources Before You Rely on a List</a:t>
            </a:r>
          </a:p>
        </p:txBody>
      </p:sp>
      <p:sp>
        <p:nvSpPr>
          <p:cNvPr id="5" name="presenter-subtitle">
            <a:extLst xmlns:a="http://schemas.openxmlformats.org/drawingml/2006/main">
              <a:ext uri="{FF2B5EF4-FFF2-40B4-BE49-F238E27FC236}">
                <a16:creationId xmlns:a16="http://schemas.microsoft.com/office/drawing/2014/main" id="{F23BBA52-40AB-428D-84BB-2CF6B243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33500"/>
            <a:ext cx="971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List content and program requirements change. Production decisions should rely on live systems and current policy.</a:t>
            </a:r>
          </a:p>
        </p:txBody>
      </p:sp>
      <p:sp>
        <p:nvSpPr>
          <p:cNvPr id="6" name="key-panel">
            <a:extLst xmlns:a="http://schemas.openxmlformats.org/drawingml/2006/main">
              <a:ext uri="{FF2B5EF4-FFF2-40B4-BE49-F238E27FC236}">
                <a16:creationId xmlns:a16="http://schemas.microsoft.com/office/drawing/2014/main" id="{93B7A784-305E-4623-B785-AFE17148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52600"/>
            <a:ext cx="3543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ey-label">
            <a:extLst xmlns:a="http://schemas.openxmlformats.org/drawingml/2006/main">
              <a:ext uri="{FF2B5EF4-FFF2-40B4-BE49-F238E27FC236}">
                <a16:creationId xmlns:a16="http://schemas.microsoft.com/office/drawing/2014/main" id="{4789335A-8339-4A8C-99E0-8F14A71C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KEY MESSAGE</a:t>
            </a:r>
          </a:p>
        </p:txBody>
      </p:sp>
      <p:sp>
        <p:nvSpPr>
          <p:cNvPr id="8" name="key-body">
            <a:extLst xmlns:a="http://schemas.openxmlformats.org/drawingml/2006/main">
              <a:ext uri="{FF2B5EF4-FFF2-40B4-BE49-F238E27FC236}">
                <a16:creationId xmlns:a16="http://schemas.microsoft.com/office/drawing/2014/main" id="{F80C4203-EB8A-46F5-B0F8-A587B66C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8956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This is the caveat and source slide. It should reduce misuse of the training deck as a policy substitute.</a:t>
            </a:r>
          </a:p>
        </p:txBody>
      </p:sp>
      <p:sp>
        <p:nvSpPr>
          <p:cNvPr id="9" name="say-panel">
            <a:extLst xmlns:a="http://schemas.openxmlformats.org/drawingml/2006/main">
              <a:ext uri="{FF2B5EF4-FFF2-40B4-BE49-F238E27FC236}">
                <a16:creationId xmlns:a16="http://schemas.microsoft.com/office/drawing/2014/main" id="{89C00704-D7F5-4C4E-8A91-EEF29A3F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ay-label">
            <a:extLst xmlns:a="http://schemas.openxmlformats.org/drawingml/2006/main">
              <a:ext uri="{FF2B5EF4-FFF2-40B4-BE49-F238E27FC236}">
                <a16:creationId xmlns:a16="http://schemas.microsoft.com/office/drawing/2014/main" id="{406F9812-9F84-40CC-8146-89B43C42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02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TALK TRACK</a:t>
            </a:r>
          </a:p>
        </p:txBody>
      </p:sp>
      <p:sp>
        <p:nvSpPr>
          <p:cNvPr id="11" name="say-body">
            <a:extLst xmlns:a="http://schemas.openxmlformats.org/drawingml/2006/main">
              <a:ext uri="{FF2B5EF4-FFF2-40B4-BE49-F238E27FC236}">
                <a16:creationId xmlns:a16="http://schemas.microsoft.com/office/drawing/2014/main" id="{198F633C-54EC-4CA2-9E67-4CDEAAB4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The exact official source matters because list content and eligibility rules change.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Use live systems and current investor, agency, vendor, and internal procedures before making production decisions.</a:t>
            </a:r>
          </a:p>
          <a:p xmlns:a="http://schemas.openxmlformats.org/drawingml/2006/main">
            <a:pPr>
              <a:defRPr sz="135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This deck is for intuition and workflow alignment, not legal advice.</a:t>
            </a:r>
          </a:p>
        </p:txBody>
      </p:sp>
      <p:sp>
        <p:nvSpPr>
          <p:cNvPr id="12" name="detail-panel">
            <a:extLst xmlns:a="http://schemas.openxmlformats.org/drawingml/2006/main">
              <a:ext uri="{FF2B5EF4-FFF2-40B4-BE49-F238E27FC236}">
                <a16:creationId xmlns:a16="http://schemas.microsoft.com/office/drawing/2014/main" id="{BC1CF4B8-9E2E-4624-8C11-71CA283F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562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detail-label">
            <a:extLst xmlns:a="http://schemas.openxmlformats.org/drawingml/2006/main">
              <a:ext uri="{FF2B5EF4-FFF2-40B4-BE49-F238E27FC236}">
                <a16:creationId xmlns:a16="http://schemas.microsoft.com/office/drawing/2014/main" id="{2E0E8AC9-90FF-472D-8163-194FBB37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DETAILS / CAUTIONS</a:t>
            </a:r>
          </a:p>
        </p:txBody>
      </p:sp>
      <p:sp>
        <p:nvSpPr>
          <p:cNvPr id="14" name="detail-body">
            <a:extLst xmlns:a="http://schemas.openxmlformats.org/drawingml/2006/main">
              <a:ext uri="{FF2B5EF4-FFF2-40B4-BE49-F238E27FC236}">
                <a16:creationId xmlns:a16="http://schemas.microsoft.com/office/drawing/2014/main" id="{37E284CE-455D-47AD-86BA-93DEB1B5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43150"/>
            <a:ext cx="291465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Official anchors verified while building the deck: OFAC Sanctions List Service, FinCEN mortgage companies and brokers page, HUD CAIVRS quick start, SAM.gov exclusions page, FHFA Suspended Counterparty Program, NMLS Consumer Access, CFPB Regulation V and Regulation B, Fannie Mae Selling Guide, Freddie Mac Seller/Servicer Guide.</a:t>
            </a:r>
          </a:p>
          <a:p xmlns:a="http://schemas.openxmlformats.org/drawingml/2006/main">
            <a:pPr>
              <a:defRPr sz="1275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- Where lists are private or investor-system based, reference the current guide or portal available to approved participants.</a:t>
            </a:r>
          </a:p>
        </p:txBody>
      </p:sp>
      <p:sp>
        <p:nvSpPr>
          <p:cNvPr id="15" name="source-panel">
            <a:extLst xmlns:a="http://schemas.openxmlformats.org/drawingml/2006/main">
              <a:ext uri="{FF2B5EF4-FFF2-40B4-BE49-F238E27FC236}">
                <a16:creationId xmlns:a16="http://schemas.microsoft.com/office/drawing/2014/main" id="{7C52D52E-478A-4CF4-BEDD-1AC5239A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5B3EA1BC-4BCD-4B4B-A38A-A7A000CC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SOURCE ANCHOR</a:t>
            </a:r>
          </a:p>
        </p:txBody>
      </p:sp>
      <p:sp>
        <p:nvSpPr>
          <p:cNvPr id="17" name="source-body">
            <a:extLst xmlns:a="http://schemas.openxmlformats.org/drawingml/2006/main">
              <a:ext uri="{FF2B5EF4-FFF2-40B4-BE49-F238E27FC236}">
                <a16:creationId xmlns:a16="http://schemas.microsoft.com/office/drawing/2014/main" id="{9F4028D9-2D18-4EFB-9CE9-DB538A4D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07-sources.md plus official source pages</a:t>
            </a:r>
          </a:p>
        </p:txBody>
      </p:sp>
      <p:sp>
        <p:nvSpPr>
          <p:cNvPr id="18" name="next-panel">
            <a:extLst xmlns:a="http://schemas.openxmlformats.org/drawingml/2006/main">
              <a:ext uri="{FF2B5EF4-FFF2-40B4-BE49-F238E27FC236}">
                <a16:creationId xmlns:a16="http://schemas.microsoft.com/office/drawing/2014/main" id="{5E049872-BDEA-48B7-AA63-E1A62DA3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14850"/>
            <a:ext cx="35433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next-label">
            <a:extLst xmlns:a="http://schemas.openxmlformats.org/drawingml/2006/main">
              <a:ext uri="{FF2B5EF4-FFF2-40B4-BE49-F238E27FC236}">
                <a16:creationId xmlns:a16="http://schemas.microsoft.com/office/drawing/2014/main" id="{90DC4151-5ABE-41BD-A237-32C4CA60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NEXT CUE</a:t>
            </a:r>
          </a:p>
        </p:txBody>
      </p:sp>
      <p:sp>
        <p:nvSpPr>
          <p:cNvPr id="20" name="next-body">
            <a:extLst xmlns:a="http://schemas.openxmlformats.org/drawingml/2006/main">
              <a:ext uri="{FF2B5EF4-FFF2-40B4-BE49-F238E27FC236}">
                <a16:creationId xmlns:a16="http://schemas.microsoft.com/office/drawing/2014/main" id="{E32BAAFD-0DFD-41EB-ACFF-B0A8E422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t>End or move to discussion.</a:t>
            </a:r>
          </a:p>
        </p:txBody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D4F1B8C-78BD-4FB9-B138-430BE556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86500"/>
            <a:ext cx="495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PRESENTER INFO - keep this deck on the private monitor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95B1798-03A5-4CD1-A547-93D6BF55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865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444998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2026-07-06T09:09:16.0420000Z</dcterms:created>
  <dcterms:modified xsi:type="dcterms:W3CDTF">2026-07-06T09:09:16.0420000Z</dcterms:modified>
</coreProperties>
</file>