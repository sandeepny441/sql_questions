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916dd863ca4aba" /><Relationship Type="http://schemas.openxmlformats.org/officeDocument/2006/relationships/extended-properties" Target="/docProps/app.xml" Id="Rc6ab5784d1114b03" /><Relationship Type="http://schemas.openxmlformats.org/officeDocument/2006/relationships/officeDocument" Target="/ppt/presentation.xml" Id="R0c71b40ffce24b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a2fe73ed6f4558"/>
  </p:sldMasterIdLst>
  <p:notesMasterIdLst>
    <p:notesMasterId xmlns:r="http://schemas.openxmlformats.org/officeDocument/2006/relationships" r:id="R3f1f639777fd4c54"/>
  </p:notesMasterIdLst>
  <p:sldIdLst>
    <p:sldId xmlns:r="http://schemas.openxmlformats.org/officeDocument/2006/relationships" id="256" r:id="Rb03a081dbc6246ee"/>
    <p:sldId xmlns:r="http://schemas.openxmlformats.org/officeDocument/2006/relationships" id="257" r:id="R86e7ee07e66b43fc"/>
    <p:sldId xmlns:r="http://schemas.openxmlformats.org/officeDocument/2006/relationships" id="258" r:id="R5a01a2d58aa44933"/>
    <p:sldId xmlns:r="http://schemas.openxmlformats.org/officeDocument/2006/relationships" id="259" r:id="R70125786b87c4953"/>
    <p:sldId xmlns:r="http://schemas.openxmlformats.org/officeDocument/2006/relationships" id="260" r:id="R67d6fba1230149c0"/>
    <p:sldId xmlns:r="http://schemas.openxmlformats.org/officeDocument/2006/relationships" id="261" r:id="R47bb21e8185c46bf"/>
    <p:sldId xmlns:r="http://schemas.openxmlformats.org/officeDocument/2006/relationships" id="262" r:id="Rf12c79c4260c4a8b"/>
    <p:sldId xmlns:r="http://schemas.openxmlformats.org/officeDocument/2006/relationships" id="263" r:id="Re41b7edbde3b4e50"/>
    <p:sldId xmlns:r="http://schemas.openxmlformats.org/officeDocument/2006/relationships" id="264" r:id="R083258870f214437"/>
    <p:sldId xmlns:r="http://schemas.openxmlformats.org/officeDocument/2006/relationships" id="265" r:id="R34fa243dbc5e48d1"/>
    <p:sldId xmlns:r="http://schemas.openxmlformats.org/officeDocument/2006/relationships" id="266" r:id="R7e97a937f24b4f67"/>
    <p:sldId xmlns:r="http://schemas.openxmlformats.org/officeDocument/2006/relationships" id="267" r:id="R33c8230893e64a50"/>
    <p:sldId xmlns:r="http://schemas.openxmlformats.org/officeDocument/2006/relationships" id="268" r:id="R1dfd213f2b6244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1644dd16b4c73" /><Relationship Type="http://schemas.openxmlformats.org/officeDocument/2006/relationships/slideMaster" Target="/ppt/slideMasters/slideMaster1.xml" Id="R55a2fe73ed6f4558" /><Relationship Type="http://schemas.openxmlformats.org/officeDocument/2006/relationships/notesMaster" Target="/ppt/notesMasters/notesMaster1.xml" Id="R3f1f639777fd4c54" /><Relationship Type="http://schemas.openxmlformats.org/officeDocument/2006/relationships/presProps" Target="/ppt/presProps.xml" Id="Rff430f56a04a4e14" /><Relationship Type="http://schemas.openxmlformats.org/officeDocument/2006/relationships/tableStyles" Target="/ppt/tableStyles.xml" Id="R8b191bcd1e024ece" /><Relationship Type="http://schemas.openxmlformats.org/officeDocument/2006/relationships/slide" Target="/ppt/slides/slide1.xml" Id="Rb03a081dbc6246ee" /><Relationship Type="http://schemas.openxmlformats.org/officeDocument/2006/relationships/slide" Target="/ppt/slides/slide2.xml" Id="R86e7ee07e66b43fc" /><Relationship Type="http://schemas.openxmlformats.org/officeDocument/2006/relationships/slide" Target="/ppt/slides/slide3.xml" Id="R5a01a2d58aa44933" /><Relationship Type="http://schemas.openxmlformats.org/officeDocument/2006/relationships/slide" Target="/ppt/slides/slide4.xml" Id="R70125786b87c4953" /><Relationship Type="http://schemas.openxmlformats.org/officeDocument/2006/relationships/slide" Target="/ppt/slides/slide5.xml" Id="R67d6fba1230149c0" /><Relationship Type="http://schemas.openxmlformats.org/officeDocument/2006/relationships/slide" Target="/ppt/slides/slide6.xml" Id="R47bb21e8185c46bf" /><Relationship Type="http://schemas.openxmlformats.org/officeDocument/2006/relationships/slide" Target="/ppt/slides/slide7.xml" Id="Rf12c79c4260c4a8b" /><Relationship Type="http://schemas.openxmlformats.org/officeDocument/2006/relationships/slide" Target="/ppt/slides/slide8.xml" Id="Re41b7edbde3b4e50" /><Relationship Type="http://schemas.openxmlformats.org/officeDocument/2006/relationships/slide" Target="/ppt/slides/slide9.xml" Id="R083258870f214437" /><Relationship Type="http://schemas.openxmlformats.org/officeDocument/2006/relationships/slide" Target="/ppt/slides/slide10.xml" Id="R34fa243dbc5e48d1" /><Relationship Type="http://schemas.openxmlformats.org/officeDocument/2006/relationships/slide" Target="/ppt/slides/slide11.xml" Id="R7e97a937f24b4f67" /><Relationship Type="http://schemas.openxmlformats.org/officeDocument/2006/relationships/slide" Target="/ppt/slides/slide12.xml" Id="R33c8230893e64a50" /><Relationship Type="http://schemas.openxmlformats.org/officeDocument/2006/relationships/slide" Target="/ppt/slides/slide13.xml" Id="R1dfd213f2b62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9960c3482e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76e4458dd4d72" /><Relationship Type="http://schemas.openxmlformats.org/officeDocument/2006/relationships/notesMaster" Target="/ppt/notesMasters/notesMaster1.xml" Id="Ra02198837f7c40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99ac37039a47d2" /><Relationship Type="http://schemas.openxmlformats.org/officeDocument/2006/relationships/notesMaster" Target="/ppt/notesMasters/notesMaster1.xml" Id="R2155c8f4654747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28cdb462e4f8f" /><Relationship Type="http://schemas.openxmlformats.org/officeDocument/2006/relationships/notesMaster" Target="/ppt/notesMasters/notesMaster1.xml" Id="R8c39e128ebd1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38eb6f472d440a" /><Relationship Type="http://schemas.openxmlformats.org/officeDocument/2006/relationships/notesMaster" Target="/ppt/notesMasters/notesMaster1.xml" Id="R038daf601a484c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54bab445d4c2d" /><Relationship Type="http://schemas.openxmlformats.org/officeDocument/2006/relationships/notesMaster" Target="/ppt/notesMasters/notesMaster1.xml" Id="R67746c102dc3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f8715cd4684281" /><Relationship Type="http://schemas.openxmlformats.org/officeDocument/2006/relationships/notesMaster" Target="/ppt/notesMasters/notesMaster1.xml" Id="R82d4bee2e0b6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2e36528f584258" /><Relationship Type="http://schemas.openxmlformats.org/officeDocument/2006/relationships/notesMaster" Target="/ppt/notesMasters/notesMaster1.xml" Id="R4ce9c451c6844f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fb9b62087c42c1" /><Relationship Type="http://schemas.openxmlformats.org/officeDocument/2006/relationships/notesMaster" Target="/ppt/notesMasters/notesMaster1.xml" Id="R4471bb7e7d304e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ca2b8a49894c43" /><Relationship Type="http://schemas.openxmlformats.org/officeDocument/2006/relationships/notesMaster" Target="/ppt/notesMasters/notesMaster1.xml" Id="R81b9a919967f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921a604d3e4702" /><Relationship Type="http://schemas.openxmlformats.org/officeDocument/2006/relationships/notesMaster" Target="/ppt/notesMasters/notesMaster1.xml" Id="R32a362cd36df4c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afc60c3c724965" /><Relationship Type="http://schemas.openxmlformats.org/officeDocument/2006/relationships/notesMaster" Target="/ppt/notesMasters/notesMaster1.xml" Id="R61279f93fe7644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8711c840c44ff6" /><Relationship Type="http://schemas.openxmlformats.org/officeDocument/2006/relationships/notesMaster" Target="/ppt/notesMasters/notesMaster1.xml" Id="R748beaa2137e4c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d70618f1f7482c" /><Relationship Type="http://schemas.openxmlformats.org/officeDocument/2006/relationships/notesMaster" Target="/ppt/notesMasters/notesMaster1.xml" Id="R5fc188990b834e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b7cabb598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63bc7bd7a74483" /><Relationship Type="http://schemas.openxmlformats.org/officeDocument/2006/relationships/slideLayout" Target="/ppt/slideLayouts/slideLayout1.xml" Id="R0eaae54b07d0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ae54b07d0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60404d32f4660" /><Relationship Type="http://schemas.openxmlformats.org/officeDocument/2006/relationships/notesSlide" Target="/ppt/notesSlides/notesSlide1.xml" Id="Rc3858c4b7293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4ed2cbce54fbe" /><Relationship Type="http://schemas.openxmlformats.org/officeDocument/2006/relationships/notesSlide" Target="/ppt/notesSlides/notesSlide2.xml" Id="Re41fc057676c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9490fedd14274" /><Relationship Type="http://schemas.openxmlformats.org/officeDocument/2006/relationships/notesSlide" Target="/ppt/notesSlides/notesSlide3.xml" Id="Ra82a8faf36cb40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81cd988204b5e" /><Relationship Type="http://schemas.openxmlformats.org/officeDocument/2006/relationships/notesSlide" Target="/ppt/notesSlides/notesSlide4.xml" Id="R733b0a90fa6446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c5db6c5e94f63" /><Relationship Type="http://schemas.openxmlformats.org/officeDocument/2006/relationships/notesSlide" Target="/ppt/notesSlides/notesSlide5.xml" Id="R56d9d4a8f674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fccbbd19e4883" /><Relationship Type="http://schemas.openxmlformats.org/officeDocument/2006/relationships/notesSlide" Target="/ppt/notesSlides/notesSlide6.xml" Id="R4bf3bb04bc45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d9d772225477f" /><Relationship Type="http://schemas.openxmlformats.org/officeDocument/2006/relationships/notesSlide" Target="/ppt/notesSlides/notesSlide7.xml" Id="R0b1d246bd949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89efe51cd47ce" /><Relationship Type="http://schemas.openxmlformats.org/officeDocument/2006/relationships/notesSlide" Target="/ppt/notesSlides/notesSlide8.xml" Id="R1dc5f47dd2fb4d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6d56fe2c44466" /><Relationship Type="http://schemas.openxmlformats.org/officeDocument/2006/relationships/notesSlide" Target="/ppt/notesSlides/notesSlide9.xml" Id="Rd773a0995f2743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6e608c3e04738" /><Relationship Type="http://schemas.openxmlformats.org/officeDocument/2006/relationships/notesSlide" Target="/ppt/notesSlides/notesSlide10.xml" Id="Rb39430d2b90d4c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09c7025a426a" /><Relationship Type="http://schemas.openxmlformats.org/officeDocument/2006/relationships/notesSlide" Target="/ppt/notesSlides/notesSlide11.xml" Id="R725a29891b8849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e84022b743ef" /><Relationship Type="http://schemas.openxmlformats.org/officeDocument/2006/relationships/notesSlide" Target="/ppt/notesSlides/notesSlide12.xml" Id="Rc94e9571ff2348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cef7bbcd4417" /><Relationship Type="http://schemas.openxmlformats.org/officeDocument/2006/relationships/notesSlide" Target="/ppt/notesSlides/notesSlide13.xml" Id="R291b7110bb4d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wer-band">
            <a:extLst xmlns:a="http://schemas.openxmlformats.org/drawingml/2006/main">
              <a:ext uri="{FF2B5EF4-FFF2-40B4-BE49-F238E27FC236}">
                <a16:creationId xmlns:a16="http://schemas.microsoft.com/office/drawing/2014/main" id="{7613C178-FC91-4A68-893E-3F3BE52F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219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551296-3CF2-4F2D-BE4C-3F28524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9144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
Is a Control System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754BD5DA-6C9E-4FEB-9274-AAA9FDC4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14625"/>
            <a:ext cx="838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Not one list. A coordinated set of legal, eligibility, fraud-risk, licensing, and post-close controls.</a:t>
            </a:r>
          </a:p>
        </p:txBody>
      </p:sp>
      <p:sp>
        <p:nvSpPr>
          <p:cNvPr id="4" name="evidence-marker">
            <a:extLst xmlns:a="http://schemas.openxmlformats.org/drawingml/2006/main">
              <a:ext uri="{FF2B5EF4-FFF2-40B4-BE49-F238E27FC236}">
                <a16:creationId xmlns:a16="http://schemas.microsoft.com/office/drawing/2014/main" id="{FD2353E4-931D-4B83-9AD1-D540731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bottom-a">
            <a:extLst xmlns:a="http://schemas.openxmlformats.org/drawingml/2006/main">
              <a:ext uri="{FF2B5EF4-FFF2-40B4-BE49-F238E27FC236}">
                <a16:creationId xmlns:a16="http://schemas.microsoft.com/office/drawing/2014/main" id="{66A0C126-A251-4EF4-866D-1A0DA20A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0125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 question</a:t>
            </a:r>
          </a:p>
        </p:txBody>
      </p:sp>
      <p:sp>
        <p:nvSpPr>
          <p:cNvPr id="6" name="cover-bottom-b">
            <a:extLst xmlns:a="http://schemas.openxmlformats.org/drawingml/2006/main">
              <a:ext uri="{FF2B5EF4-FFF2-40B4-BE49-F238E27FC236}">
                <a16:creationId xmlns:a16="http://schemas.microsoft.com/office/drawing/2014/main" id="{D80C0A0A-7860-4334-A417-E52D41F3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197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1362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Are we allowed to keep moving with this loan and these parties?</a:t>
            </a:r>
          </a:p>
        </p:txBody>
      </p:sp>
      <p:sp>
        <p:nvSpPr>
          <p:cNvPr id="7" name="takeaway-marker">
            <a:extLst xmlns:a="http://schemas.openxmlformats.org/drawingml/2006/main">
              <a:ext uri="{FF2B5EF4-FFF2-40B4-BE49-F238E27FC236}">
                <a16:creationId xmlns:a16="http://schemas.microsoft.com/office/drawing/2014/main" id="{67959FE3-1C21-49D2-9C56-42FFC9FD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bottom-c">
            <a:extLst xmlns:a="http://schemas.openxmlformats.org/drawingml/2006/main">
              <a:ext uri="{FF2B5EF4-FFF2-40B4-BE49-F238E27FC236}">
                <a16:creationId xmlns:a16="http://schemas.microsoft.com/office/drawing/2014/main" id="{424942DD-D4F3-4232-924F-2FBBC76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10125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Operating habit</a:t>
            </a:r>
          </a:p>
        </p:txBody>
      </p:sp>
      <p:sp>
        <p:nvSpPr>
          <p:cNvPr id="9" name="cover-bottom-d">
            <a:extLst xmlns:a="http://schemas.openxmlformats.org/drawingml/2006/main">
              <a:ext uri="{FF2B5EF4-FFF2-40B4-BE49-F238E27FC236}">
                <a16:creationId xmlns:a16="http://schemas.microsoft.com/office/drawing/2014/main" id="{1933CD38-7487-49C6-BDF2-E13EF81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19700"/>
            <a:ext cx="314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 each hit before deciding what to do with it.</a:t>
            </a:r>
          </a:p>
        </p:txBody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706990-460A-4ABE-A6E0-AD322409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85C716D-AE78-4B13-9E29-4D3B5CB6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699603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250D7B-81A1-4EFC-A9E0-066991C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Questions Drive the Screening Landscape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A5BAAC-D728-4CD2-83E2-052C0CE5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346B20-3305-49ED-89AA-DC87860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3489BD-9A15-427C-AEF3-6675E48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file stays clean only when each control question has an answer.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503A70EE-8632-4E93-A43E-2F3D706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14109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-num-0">
            <a:extLst xmlns:a="http://schemas.openxmlformats.org/drawingml/2006/main">
              <a:ext uri="{FF2B5EF4-FFF2-40B4-BE49-F238E27FC236}">
                <a16:creationId xmlns:a16="http://schemas.microsoft.com/office/drawing/2014/main" id="{09FB1146-D81F-4513-BD65-A33B934E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q-rule-0">
            <a:extLst xmlns:a="http://schemas.openxmlformats.org/drawingml/2006/main">
              <a:ext uri="{FF2B5EF4-FFF2-40B4-BE49-F238E27FC236}">
                <a16:creationId xmlns:a16="http://schemas.microsoft.com/office/drawing/2014/main" id="{1C33FE04-ED8F-4A45-8AE6-DFDA8BF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13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-title-0">
            <a:extLst xmlns:a="http://schemas.openxmlformats.org/drawingml/2006/main">
              <a:ext uri="{FF2B5EF4-FFF2-40B4-BE49-F238E27FC236}">
                <a16:creationId xmlns:a16="http://schemas.microsoft.com/office/drawing/2014/main" id="{CA1E3EEF-740C-42D9-917F-2666115C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Allowed to transact?</a:t>
            </a:r>
          </a:p>
        </p:txBody>
      </p:sp>
      <p:sp>
        <p:nvSpPr>
          <p:cNvPr id="9" name="q-body-0">
            <a:extLst xmlns:a="http://schemas.openxmlformats.org/drawingml/2006/main">
              <a:ext uri="{FF2B5EF4-FFF2-40B4-BE49-F238E27FC236}">
                <a16:creationId xmlns:a16="http://schemas.microsoft.com/office/drawing/2014/main" id="{F0E5FAFC-3405-4CC6-A30F-15DB7EA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2190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Sanctions and legal restrictions</a:t>
            </a:r>
          </a:p>
        </p:txBody>
      </p:sp>
      <p:sp>
        <p:nvSpPr>
          <p:cNvPr id="10" name="q-num-1">
            <a:extLst xmlns:a="http://schemas.openxmlformats.org/drawingml/2006/main">
              <a:ext uri="{FF2B5EF4-FFF2-40B4-BE49-F238E27FC236}">
                <a16:creationId xmlns:a16="http://schemas.microsoft.com/office/drawing/2014/main" id="{D993F502-11A4-4987-9360-D1291C6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q-rule-1">
            <a:extLst xmlns:a="http://schemas.openxmlformats.org/drawingml/2006/main">
              <a:ext uri="{FF2B5EF4-FFF2-40B4-BE49-F238E27FC236}">
                <a16:creationId xmlns:a16="http://schemas.microsoft.com/office/drawing/2014/main" id="{8B6A1C17-E2FB-4C5D-9A30-43E5BCD7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-title-1">
            <a:extLst xmlns:a="http://schemas.openxmlformats.org/drawingml/2006/main">
              <a:ext uri="{FF2B5EF4-FFF2-40B4-BE49-F238E27FC236}">
                <a16:creationId xmlns:a16="http://schemas.microsoft.com/office/drawing/2014/main" id="{58DDE020-4073-4810-89CD-2EB56A9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Eligible for the program?</a:t>
            </a:r>
          </a:p>
        </p:txBody>
      </p:sp>
      <p:sp>
        <p:nvSpPr>
          <p:cNvPr id="13" name="q-body-1">
            <a:extLst xmlns:a="http://schemas.openxmlformats.org/drawingml/2006/main">
              <a:ext uri="{FF2B5EF4-FFF2-40B4-BE49-F238E27FC236}">
                <a16:creationId xmlns:a16="http://schemas.microsoft.com/office/drawing/2014/main" id="{A6672D03-B84F-43B3-AC05-426EB66A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2190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Agency, investor, and federal credit controls</a:t>
            </a:r>
          </a:p>
        </p:txBody>
      </p:sp>
      <p:sp>
        <p:nvSpPr>
          <p:cNvPr id="14" name="q-num-2">
            <a:extLst xmlns:a="http://schemas.openxmlformats.org/drawingml/2006/main">
              <a:ext uri="{FF2B5EF4-FFF2-40B4-BE49-F238E27FC236}">
                <a16:creationId xmlns:a16="http://schemas.microsoft.com/office/drawing/2014/main" id="{F55FEB46-7F16-4093-85D3-21D4088F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q-rule-2">
            <a:extLst xmlns:a="http://schemas.openxmlformats.org/drawingml/2006/main">
              <a:ext uri="{FF2B5EF4-FFF2-40B4-BE49-F238E27FC236}">
                <a16:creationId xmlns:a16="http://schemas.microsoft.com/office/drawing/2014/main" id="{2BA2BE8E-5DAA-42F1-A852-9170FF6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813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-title-2">
            <a:extLst xmlns:a="http://schemas.openxmlformats.org/drawingml/2006/main">
              <a:ext uri="{FF2B5EF4-FFF2-40B4-BE49-F238E27FC236}">
                <a16:creationId xmlns:a16="http://schemas.microsoft.com/office/drawing/2014/main" id="{BAE377EB-51EA-4E43-9784-A9C46018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480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Does the file show fraud risk?</a:t>
            </a:r>
          </a:p>
        </p:txBody>
      </p:sp>
      <p:sp>
        <p:nvSpPr>
          <p:cNvPr id="17" name="q-body-2">
            <a:extLst xmlns:a="http://schemas.openxmlformats.org/drawingml/2006/main">
              <a:ext uri="{FF2B5EF4-FFF2-40B4-BE49-F238E27FC236}">
                <a16:creationId xmlns:a16="http://schemas.microsoft.com/office/drawing/2014/main" id="{147A26C1-64D5-45BD-A70C-3627F845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95750"/>
            <a:ext cx="2190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Identity, income, occupancy, property, and party relationships</a:t>
            </a:r>
          </a:p>
        </p:txBody>
      </p:sp>
      <p:sp>
        <p:nvSpPr>
          <p:cNvPr id="18" name="q-num-3">
            <a:extLst xmlns:a="http://schemas.openxmlformats.org/drawingml/2006/main">
              <a:ext uri="{FF2B5EF4-FFF2-40B4-BE49-F238E27FC236}">
                <a16:creationId xmlns:a16="http://schemas.microsoft.com/office/drawing/2014/main" id="{E512CFF5-72B1-4A0A-BE48-C6BE8868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q-rule-3">
            <a:extLst xmlns:a="http://schemas.openxmlformats.org/drawingml/2006/main">
              <a:ext uri="{FF2B5EF4-FFF2-40B4-BE49-F238E27FC236}">
                <a16:creationId xmlns:a16="http://schemas.microsoft.com/office/drawing/2014/main" id="{8DD8B593-E7B3-400A-B65E-E7550FA6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813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q-title-3">
            <a:extLst xmlns:a="http://schemas.openxmlformats.org/drawingml/2006/main">
              <a:ext uri="{FF2B5EF4-FFF2-40B4-BE49-F238E27FC236}">
                <a16:creationId xmlns:a16="http://schemas.microsoft.com/office/drawing/2014/main" id="{D80D9742-A07C-466A-85CE-9FB94E9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48000"/>
            <a:ext cx="2190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0760"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Did anything change after closing?</a:t>
            </a:r>
          </a:p>
        </p:txBody>
      </p:sp>
      <p:sp>
        <p:nvSpPr>
          <p:cNvPr id="21" name="q-body-3">
            <a:extLst xmlns:a="http://schemas.openxmlformats.org/drawingml/2006/main">
              <a:ext uri="{FF2B5EF4-FFF2-40B4-BE49-F238E27FC236}">
                <a16:creationId xmlns:a16="http://schemas.microsoft.com/office/drawing/2014/main" id="{64C07C46-8A48-476C-8D20-FBE783D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95750"/>
            <a:ext cx="2190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Delivery, servicing, reporting, blocking, curing, or monitoring</a:t>
            </a:r>
          </a:p>
        </p:txBody>
      </p:sp>
      <p:sp>
        <p:nvSpPr>
          <p:cNvPr id="22" name="bottom">
            <a:extLst xmlns:a="http://schemas.openxmlformats.org/drawingml/2006/main">
              <a:ext uri="{FF2B5EF4-FFF2-40B4-BE49-F238E27FC236}">
                <a16:creationId xmlns:a16="http://schemas.microsoft.com/office/drawing/2014/main" id="{4D073248-951F-40AD-9324-9E2F64F3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91200"/>
            <a:ext cx="962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clean screen at application does not guarantee a clean file at funding, delivery, or servicing.</a:t>
            </a:r>
          </a:p>
        </p:txBody>
      </p:sp>
    </p:spTree>
    <p:extLst>
      <p:ext uri="{BB962C8B-B14F-4D97-AF65-F5344CB8AC3E}">
        <p14:creationId xmlns:p14="http://schemas.microsoft.com/office/powerpoint/2010/main" val="513864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6B79BF-97F8-4AD5-8E0E-E6C95FB0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Screening Bucket Answers a Different Question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35C528-414A-49B8-8CF2-B441620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C995337-2F4E-4469-BA70-9D45875A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705A50-D268-4C87-8DE8-5E60928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classification decision shapes the next action.</a:t>
            </a:r>
          </a:p>
        </p:txBody>
      </p:sp>
      <p:sp>
        <p:nvSpPr>
          <p:cNvPr id="5" name="table-bg">
            <a:extLst xmlns:a="http://schemas.openxmlformats.org/drawingml/2006/main">
              <a:ext uri="{FF2B5EF4-FFF2-40B4-BE49-F238E27FC236}">
                <a16:creationId xmlns:a16="http://schemas.microsoft.com/office/drawing/2014/main" id="{E56691E8-9FB0-4BF3-90F0-CAF1C513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28800"/>
            <a:ext cx="114109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90525" y="1885950"/>
          <a:ext xmlns:a="http://schemas.openxmlformats.org/drawingml/2006/main" cx="114109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981700"/>
                <a:gridCol w="2857500"/>
              </a:tblGrid>
              <a:tr h="590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Bucket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it answers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Typical consequence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Sanctions / OFAC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 we legally restricted from transacting with this party?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Stop normal clearance and escalate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Fraud-risk tools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the file contain facts that need review?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Investigate, clear, condition, or escalate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Exclusion / ineligibility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this party barred from a program or investor channel?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role, rule, and replacement options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 eligibility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the borrower eligible for this government-backed credit program?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 or document exception before approval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Licensing / credentials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the originator or company authorized for the loan?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Verify authority; escalate gaps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443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3B220D-A204-4181-83BC-6CCAB4D8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Screening Extends Beyond the Borrower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3B6FF2A-E400-4805-A747-C1C4446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18A7B33-F51F-40F2-BB86-5DDE368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80E71B-FAD6-4295-B638-BE05D86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Risk can attach to the parties, companies, agents, vendors, and counterparties around the loan.</a:t>
            </a:r>
          </a:p>
        </p:txBody>
      </p:sp>
      <p:sp>
        <p:nvSpPr>
          <p:cNvPr id="5" name="party-panel-0">
            <a:extLst xmlns:a="http://schemas.openxmlformats.org/drawingml/2006/main">
              <a:ext uri="{FF2B5EF4-FFF2-40B4-BE49-F238E27FC236}">
                <a16:creationId xmlns:a16="http://schemas.microsoft.com/office/drawing/2014/main" id="{0677676B-3D43-4446-BC3F-80B0AB07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2495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ty-head-0">
            <a:extLst xmlns:a="http://schemas.openxmlformats.org/drawingml/2006/main">
              <a:ext uri="{FF2B5EF4-FFF2-40B4-BE49-F238E27FC236}">
                <a16:creationId xmlns:a16="http://schemas.microsoft.com/office/drawing/2014/main" id="{C24AFA92-849C-4372-8F52-3954720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Borrower side</a:t>
            </a:r>
          </a:p>
        </p:txBody>
      </p:sp>
      <p:sp>
        <p:nvSpPr>
          <p:cNvPr id="7" name="party-body-0">
            <a:extLst xmlns:a="http://schemas.openxmlformats.org/drawingml/2006/main">
              <a:ext uri="{FF2B5EF4-FFF2-40B4-BE49-F238E27FC236}">
                <a16:creationId xmlns:a16="http://schemas.microsoft.com/office/drawing/2014/main" id="{4E8781E9-FFDE-47F4-B3D6-ECA5690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1952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Borrower
Co-borrower
Guarantor
Entity borrower
Beneficial owners</a:t>
            </a:r>
          </a:p>
        </p:txBody>
      </p:sp>
      <p:sp>
        <p:nvSpPr>
          <p:cNvPr id="8" name="party-panel-1">
            <a:extLst xmlns:a="http://schemas.openxmlformats.org/drawingml/2006/main">
              <a:ext uri="{FF2B5EF4-FFF2-40B4-BE49-F238E27FC236}">
                <a16:creationId xmlns:a16="http://schemas.microsoft.com/office/drawing/2014/main" id="{8AEC98D1-1C78-4CDD-9917-15ACB6B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62150"/>
            <a:ext cx="2495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ty-head-1">
            <a:extLst xmlns:a="http://schemas.openxmlformats.org/drawingml/2006/main">
              <a:ext uri="{FF2B5EF4-FFF2-40B4-BE49-F238E27FC236}">
                <a16:creationId xmlns:a16="http://schemas.microsoft.com/office/drawing/2014/main" id="{754F3E4D-46E0-4E5C-82D8-130A393C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 side</a:t>
            </a:r>
          </a:p>
        </p:txBody>
      </p:sp>
      <p:sp>
        <p:nvSpPr>
          <p:cNvPr id="10" name="party-body-1">
            <a:extLst xmlns:a="http://schemas.openxmlformats.org/drawingml/2006/main">
              <a:ext uri="{FF2B5EF4-FFF2-40B4-BE49-F238E27FC236}">
                <a16:creationId xmlns:a16="http://schemas.microsoft.com/office/drawing/2014/main" id="{24AA1305-9DCF-4572-8C78-BB8729DB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1952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Seller
POA signer
Trustee
Builder
Settlement agent</a:t>
            </a:r>
          </a:p>
        </p:txBody>
      </p:sp>
      <p:sp>
        <p:nvSpPr>
          <p:cNvPr id="11" name="party-panel-2">
            <a:extLst xmlns:a="http://schemas.openxmlformats.org/drawingml/2006/main">
              <a:ext uri="{FF2B5EF4-FFF2-40B4-BE49-F238E27FC236}">
                <a16:creationId xmlns:a16="http://schemas.microsoft.com/office/drawing/2014/main" id="{275022F2-D3DC-4777-8121-F6342743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62150"/>
            <a:ext cx="2495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y-head-2">
            <a:extLst xmlns:a="http://schemas.openxmlformats.org/drawingml/2006/main">
              <a:ext uri="{FF2B5EF4-FFF2-40B4-BE49-F238E27FC236}">
                <a16:creationId xmlns:a16="http://schemas.microsoft.com/office/drawing/2014/main" id="{DC6E142B-E575-482A-B7AC-B5D1A6B5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side</a:t>
            </a:r>
          </a:p>
        </p:txBody>
      </p:sp>
      <p:sp>
        <p:nvSpPr>
          <p:cNvPr id="13" name="party-body-2">
            <a:extLst xmlns:a="http://schemas.openxmlformats.org/drawingml/2006/main">
              <a:ext uri="{FF2B5EF4-FFF2-40B4-BE49-F238E27FC236}">
                <a16:creationId xmlns:a16="http://schemas.microsoft.com/office/drawing/2014/main" id="{10E317E0-F5C8-438F-9F2C-40FE4B7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95600"/>
            <a:ext cx="1952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Broker
MLO
Processor
Appraiser
Title company</a:t>
            </a:r>
          </a:p>
        </p:txBody>
      </p:sp>
      <p:sp>
        <p:nvSpPr>
          <p:cNvPr id="14" name="party-panel-3">
            <a:extLst xmlns:a="http://schemas.openxmlformats.org/drawingml/2006/main">
              <a:ext uri="{FF2B5EF4-FFF2-40B4-BE49-F238E27FC236}">
                <a16:creationId xmlns:a16="http://schemas.microsoft.com/office/drawing/2014/main" id="{8C224ACB-BB2E-4CA8-86AA-98D61AAE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95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rty-head-3">
            <a:extLst xmlns:a="http://schemas.openxmlformats.org/drawingml/2006/main">
              <a:ext uri="{FF2B5EF4-FFF2-40B4-BE49-F238E27FC236}">
                <a16:creationId xmlns:a16="http://schemas.microsoft.com/office/drawing/2014/main" id="{BC4A87A2-4A9C-4840-9CB3-39DA766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Post-close side</a:t>
            </a:r>
          </a:p>
        </p:txBody>
      </p:sp>
      <p:sp>
        <p:nvSpPr>
          <p:cNvPr id="16" name="party-body-3">
            <a:extLst xmlns:a="http://schemas.openxmlformats.org/drawingml/2006/main">
              <a:ext uri="{FF2B5EF4-FFF2-40B4-BE49-F238E27FC236}">
                <a16:creationId xmlns:a16="http://schemas.microsoft.com/office/drawing/2014/main" id="{5E9DE58F-FA66-413F-914A-3B77E384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1952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Investor delivery party
Servicer
Vendor
Transfer counterparty
Payment recipient</a:t>
            </a:r>
          </a:p>
        </p:txBody>
      </p:sp>
      <p:sp>
        <p:nvSpPr>
          <p:cNvPr id="17" name="scope-note">
            <a:extLst xmlns:a="http://schemas.openxmlformats.org/drawingml/2006/main">
              <a:ext uri="{FF2B5EF4-FFF2-40B4-BE49-F238E27FC236}">
                <a16:creationId xmlns:a16="http://schemas.microsoft.com/office/drawing/2014/main" id="{8F3D54F1-AA2C-4282-9B92-19C52BD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91200"/>
            <a:ext cx="923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Exact scope depends on list, rule, investor, product, and internal policy.</a:t>
            </a:r>
          </a:p>
        </p:txBody>
      </p:sp>
    </p:spTree>
    <p:extLst>
      <p:ext uri="{BB962C8B-B14F-4D97-AF65-F5344CB8AC3E}">
        <p14:creationId xmlns:p14="http://schemas.microsoft.com/office/powerpoint/2010/main" val="1296890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868CA5-A6A3-4A41-B377-D1ECF16F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OFAC Is a Legal Permission Screen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A02426B-08FA-4A56-A667-3D9F8FF4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F77824-8B1D-4369-95F0-0EE6DF1A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A541A6-BB04-4C41-8F1E-7676126A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It is not normal credit underwriting, and a true match can stop the process.</a:t>
            </a:r>
          </a:p>
        </p:txBody>
      </p:sp>
      <p:sp>
        <p:nvSpPr>
          <p:cNvPr id="5" name="left-panel">
            <a:extLst xmlns:a="http://schemas.openxmlformats.org/drawingml/2006/main">
              <a:ext uri="{FF2B5EF4-FFF2-40B4-BE49-F238E27FC236}">
                <a16:creationId xmlns:a16="http://schemas.microsoft.com/office/drawing/2014/main" id="{6BE3978F-B0C8-408A-9702-38A0D19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24050"/>
            <a:ext cx="3571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BC33FBCC-2243-4450-960C-A995ABD9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24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Credit underwriting asks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BCAE4CA-B6BA-4CA8-97EA-169C82D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the borrower repay?</a:t>
            </a:r>
          </a:p>
        </p:txBody>
      </p:sp>
      <p:sp>
        <p:nvSpPr>
          <p:cNvPr id="8" name="right-panel">
            <a:extLst xmlns:a="http://schemas.openxmlformats.org/drawingml/2006/main">
              <a:ext uri="{FF2B5EF4-FFF2-40B4-BE49-F238E27FC236}">
                <a16:creationId xmlns:a16="http://schemas.microsoft.com/office/drawing/2014/main" id="{B70988D5-D3D6-4CC6-AE8D-025C042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571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ght-head">
            <a:extLst xmlns:a="http://schemas.openxmlformats.org/drawingml/2006/main">
              <a:ext uri="{FF2B5EF4-FFF2-40B4-BE49-F238E27FC236}">
                <a16:creationId xmlns:a16="http://schemas.microsoft.com/office/drawing/2014/main" id="{55C5358D-4612-4BD4-A28C-E619F828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OFAC asks</a:t>
            </a:r>
          </a:p>
        </p:txBody>
      </p:sp>
      <p:sp>
        <p:nvSpPr>
          <p:cNvPr id="10" name="right-body">
            <a:extLst xmlns:a="http://schemas.openxmlformats.org/drawingml/2006/main">
              <a:ext uri="{FF2B5EF4-FFF2-40B4-BE49-F238E27FC236}">
                <a16:creationId xmlns:a16="http://schemas.microsoft.com/office/drawing/2014/main" id="{215E941E-DCA4-463D-856D-631FECE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7604"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Are we legally allowed to transact?</a:t>
            </a:r>
          </a:p>
        </p:txBody>
      </p:sp>
      <p:sp>
        <p:nvSpPr>
          <p:cNvPr id="11" name="stop">
            <a:extLst xmlns:a="http://schemas.openxmlformats.org/drawingml/2006/main">
              <a:ext uri="{FF2B5EF4-FFF2-40B4-BE49-F238E27FC236}">
                <a16:creationId xmlns:a16="http://schemas.microsoft.com/office/drawing/2014/main" id="{4BD847FB-D23C-439B-A6E6-B42E07F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TRUE MATCH</a:t>
            </a:r>
          </a:p>
        </p:txBody>
      </p:sp>
      <p:sp>
        <p:nvSpPr>
          <p:cNvPr id="12" name="stop2">
            <a:extLst xmlns:a="http://schemas.openxmlformats.org/drawingml/2006/main">
              <a:ext uri="{FF2B5EF4-FFF2-40B4-BE49-F238E27FC236}">
                <a16:creationId xmlns:a16="http://schemas.microsoft.com/office/drawing/2014/main" id="{D540A1A3-04E3-48CF-AEFB-7805D62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9875"/>
            <a:ext cx="3048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normal clearance.
Escalate to sanctions compliance.
Block, reject, report, or preserve records when required.</a:t>
            </a:r>
          </a:p>
        </p:txBody>
      </p:sp>
      <p:sp>
        <p:nvSpPr>
          <p:cNvPr id="1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9D56583-62C9-417B-AD8F-22B77E64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5305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ttom">
            <a:extLst xmlns:a="http://schemas.openxmlformats.org/drawingml/2006/main">
              <a:ext uri="{FF2B5EF4-FFF2-40B4-BE49-F238E27FC236}">
                <a16:creationId xmlns:a16="http://schemas.microsoft.com/office/drawing/2014/main" id="{D920F375-6607-45CB-8605-F30A8BE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657850"/>
            <a:ext cx="9906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9431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 name match alone is not final. A possible match still needs identifier review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04447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618C08-B2B8-4723-9736-7D4ADF1F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Fraud Tools Raise Questions the File Must Answer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D176A9D-F873-4124-830C-2B7F6871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1CEDAF6-92FE-4CB1-A48A-1DFE4A53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9D37EE9-E0F1-43E0-BFCD-458D22CC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fraud alert is usually a risk signal, not an automatic denial.</a:t>
            </a:r>
          </a:p>
        </p:txBody>
      </p:sp>
      <p:sp>
        <p:nvSpPr>
          <p:cNvPr id="5" name="big">
            <a:extLst xmlns:a="http://schemas.openxmlformats.org/drawingml/2006/main">
              <a:ext uri="{FF2B5EF4-FFF2-40B4-BE49-F238E27FC236}">
                <a16:creationId xmlns:a16="http://schemas.microsoft.com/office/drawing/2014/main" id="{FB60A9E8-891E-4B54-ABAE-B59A4CB9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3524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 mark,
not final verdict</a:t>
            </a:r>
          </a:p>
        </p:txBody>
      </p:sp>
      <p:sp>
        <p:nvSpPr>
          <p:cNvPr id="6" name="explain">
            <a:extLst xmlns:a="http://schemas.openxmlformats.org/drawingml/2006/main">
              <a:ext uri="{FF2B5EF4-FFF2-40B4-BE49-F238E27FC236}">
                <a16:creationId xmlns:a16="http://schemas.microsoft.com/office/drawing/2014/main" id="{A1C604EA-CC19-445E-83F9-1E7CA9CB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95750"/>
            <a:ext cx="3333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0278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Resolve the facts before the loan moves forward. Do not let a black-box fraud score silently decide the file.</a:t>
            </a:r>
          </a:p>
        </p:txBody>
      </p:sp>
      <p:sp>
        <p:nvSpPr>
          <p:cNvPr id="7" name="fraud-row-0">
            <a:extLst xmlns:a="http://schemas.openxmlformats.org/drawingml/2006/main">
              <a:ext uri="{FF2B5EF4-FFF2-40B4-BE49-F238E27FC236}">
                <a16:creationId xmlns:a16="http://schemas.microsoft.com/office/drawing/2014/main" id="{10D40415-AC3D-4A7E-AC92-618EBD5F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74961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raud-label-0">
            <a:extLst xmlns:a="http://schemas.openxmlformats.org/drawingml/2006/main">
              <a:ext uri="{FF2B5EF4-FFF2-40B4-BE49-F238E27FC236}">
                <a16:creationId xmlns:a16="http://schemas.microsoft.com/office/drawing/2014/main" id="{908B1802-DC14-4D8B-8BE2-F4782EBD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</a:t>
            </a:r>
          </a:p>
        </p:txBody>
      </p:sp>
      <p:sp>
        <p:nvSpPr>
          <p:cNvPr id="9" name="fraud-body-0">
            <a:extLst xmlns:a="http://schemas.openxmlformats.org/drawingml/2006/main">
              <a:ext uri="{FF2B5EF4-FFF2-40B4-BE49-F238E27FC236}">
                <a16:creationId xmlns:a16="http://schemas.microsoft.com/office/drawing/2014/main" id="{1479CB32-6C6A-4EF3-B745-0501BABA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9072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6607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Name, SSN, DOB, address, deceased-person indicators</a:t>
            </a:r>
          </a:p>
        </p:txBody>
      </p:sp>
      <p:sp>
        <p:nvSpPr>
          <p:cNvPr id="10" name="fraud-row-1">
            <a:extLst xmlns:a="http://schemas.openxmlformats.org/drawingml/2006/main">
              <a:ext uri="{FF2B5EF4-FFF2-40B4-BE49-F238E27FC236}">
                <a16:creationId xmlns:a16="http://schemas.microsoft.com/office/drawing/2014/main" id="{C18CAAAB-BA72-4705-A0C7-54D1088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74961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raud-label-1">
            <a:extLst xmlns:a="http://schemas.openxmlformats.org/drawingml/2006/main">
              <a:ext uri="{FF2B5EF4-FFF2-40B4-BE49-F238E27FC236}">
                <a16:creationId xmlns:a16="http://schemas.microsoft.com/office/drawing/2014/main" id="{41D7A5BD-B03D-4E61-826B-498E860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Occupancy</a:t>
            </a:r>
          </a:p>
        </p:txBody>
      </p:sp>
      <p:sp>
        <p:nvSpPr>
          <p:cNvPr id="12" name="fraud-body-1">
            <a:extLst xmlns:a="http://schemas.openxmlformats.org/drawingml/2006/main">
              <a:ext uri="{FF2B5EF4-FFF2-40B4-BE49-F238E27FC236}">
                <a16:creationId xmlns:a16="http://schemas.microsoft.com/office/drawing/2014/main" id="{4A0549D8-93A9-4A48-A5FD-28724F2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6398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residence story, mailing address, move rationale</a:t>
            </a:r>
          </a:p>
        </p:txBody>
      </p:sp>
      <p:sp>
        <p:nvSpPr>
          <p:cNvPr id="13" name="fraud-row-2">
            <a:extLst xmlns:a="http://schemas.openxmlformats.org/drawingml/2006/main">
              <a:ext uri="{FF2B5EF4-FFF2-40B4-BE49-F238E27FC236}">
                <a16:creationId xmlns:a16="http://schemas.microsoft.com/office/drawing/2014/main" id="{42A89B3B-C82C-478E-B0C2-88A56BBA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74961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fraud-label-2">
            <a:extLst xmlns:a="http://schemas.openxmlformats.org/drawingml/2006/main">
              <a:ext uri="{FF2B5EF4-FFF2-40B4-BE49-F238E27FC236}">
                <a16:creationId xmlns:a16="http://schemas.microsoft.com/office/drawing/2014/main" id="{82FB163A-FC9D-4CBE-8EF9-2ABF6C3A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Property</a:t>
            </a:r>
          </a:p>
        </p:txBody>
      </p:sp>
      <p:sp>
        <p:nvSpPr>
          <p:cNvPr id="15" name="fraud-body-2">
            <a:extLst xmlns:a="http://schemas.openxmlformats.org/drawingml/2006/main">
              <a:ext uri="{FF2B5EF4-FFF2-40B4-BE49-F238E27FC236}">
                <a16:creationId xmlns:a16="http://schemas.microsoft.com/office/drawing/2014/main" id="{E220006C-C194-41FC-A2B7-CBBBCF7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Flip, value change, title chain, related parties</a:t>
            </a:r>
          </a:p>
        </p:txBody>
      </p:sp>
      <p:sp>
        <p:nvSpPr>
          <p:cNvPr id="16" name="fraud-row-3">
            <a:extLst xmlns:a="http://schemas.openxmlformats.org/drawingml/2006/main">
              <a:ext uri="{FF2B5EF4-FFF2-40B4-BE49-F238E27FC236}">
                <a16:creationId xmlns:a16="http://schemas.microsoft.com/office/drawing/2014/main" id="{D684359B-F26C-471F-8A55-ACC6B53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74961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fraud-label-3">
            <a:extLst xmlns:a="http://schemas.openxmlformats.org/drawingml/2006/main">
              <a:ext uri="{FF2B5EF4-FFF2-40B4-BE49-F238E27FC236}">
                <a16:creationId xmlns:a16="http://schemas.microsoft.com/office/drawing/2014/main" id="{FE8B2A4F-F39F-4CE3-8149-054E0D3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Employment</a:t>
            </a:r>
          </a:p>
        </p:txBody>
      </p:sp>
      <p:sp>
        <p:nvSpPr>
          <p:cNvPr id="18" name="fraud-body-3">
            <a:extLst xmlns:a="http://schemas.openxmlformats.org/drawingml/2006/main">
              <a:ext uri="{FF2B5EF4-FFF2-40B4-BE49-F238E27FC236}">
                <a16:creationId xmlns:a16="http://schemas.microsoft.com/office/drawing/2014/main" id="{27F62B45-9225-432E-B384-66BAABFA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Employer reality, income fit, related-party work</a:t>
            </a:r>
          </a:p>
        </p:txBody>
      </p:sp>
      <p:sp>
        <p:nvSpPr>
          <p:cNvPr id="19" name="fraud-row-4">
            <a:extLst xmlns:a="http://schemas.openxmlformats.org/drawingml/2006/main">
              <a:ext uri="{FF2B5EF4-FFF2-40B4-BE49-F238E27FC236}">
                <a16:creationId xmlns:a16="http://schemas.microsoft.com/office/drawing/2014/main" id="{7FC4CC89-5133-44AC-B3D6-517EF764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74961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raud-label-4">
            <a:extLst xmlns:a="http://schemas.openxmlformats.org/drawingml/2006/main">
              <a:ext uri="{FF2B5EF4-FFF2-40B4-BE49-F238E27FC236}">
                <a16:creationId xmlns:a16="http://schemas.microsoft.com/office/drawing/2014/main" id="{444BC4BC-A529-4B18-896D-00551EE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720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Relationships</a:t>
            </a:r>
          </a:p>
        </p:txBody>
      </p:sp>
      <p:sp>
        <p:nvSpPr>
          <p:cNvPr id="21" name="fraud-body-4">
            <a:extLst xmlns:a="http://schemas.openxmlformats.org/drawingml/2006/main">
              <a:ext uri="{FF2B5EF4-FFF2-40B4-BE49-F238E27FC236}">
                <a16:creationId xmlns:a16="http://schemas.microsoft.com/office/drawing/2014/main" id="{9D6E783F-CF47-479B-AF79-20041AC9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6252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2259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Undisclosed links among borrower, seller, appraiser, broker</a:t>
            </a:r>
          </a:p>
        </p:txBody>
      </p:sp>
    </p:spTree>
    <p:extLst>
      <p:ext uri="{BB962C8B-B14F-4D97-AF65-F5344CB8AC3E}">
        <p14:creationId xmlns:p14="http://schemas.microsoft.com/office/powerpoint/2010/main" val="1828706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6698EE-AB88-4638-8F46-E8D424B1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Eligibility Controls Decide Participation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BB63831-5565-4FBF-8B54-FFFA8CEB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914329D-15AD-452F-BA5A-019FA5F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935267-AD4F-4819-B891-9891672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Some lists do not identify fraud or sanctions. They decide whether a party or borrower can participate.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90525" y="1809750"/>
          <a:ext xmlns:a="http://schemas.openxmlformats.org/drawingml/2006/main" cx="1141095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6172200"/>
                <a:gridCol w="3000375"/>
              </a:tblGrid>
              <a:tr h="5334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Mortgage relevance</a:t>
                      </a:r>
                    </a:p>
                  </a:txBody>
                  <a:tcPr marL="76200" marR="76200" marT="76200" marB="76200">
                    <a:solidFill>
                      <a:srgbClr val="EDEDE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HUD LDP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this party restricted from HUD program participation?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FHA and other HUD-related roles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 exclusions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this party suspended, debarred, or federally excluded?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Federal programs and counterparties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CAIVRS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Does this borrower have federal debt/default eligibility issues?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FHA, VA, USDA, and related programs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FHFA / GSE lists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regulated entities or investors do business with this party?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Delivery and counterparty eligibility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NMLS / licensing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the originator or company active and licensed?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Authority to originate in the state/product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Internal watchlists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 the institution restricted this party?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Governed do-not-use or escalation controls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58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BAB1D-CDFE-4BB1-945F-EB6326DB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Screening Works as a Series of Gates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7A06F3-FA6E-4081-AFD6-35158049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C8CA57-D8F9-4FA2-9778-48959A3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F3E0B9-D44F-447F-9B98-AD35A71E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Each checkpoint answers a fresh version of: are we allowed to keep going?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00A67175-64FA-4ABC-A946-D184701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7E97A8C5-A82F-49CF-BB8A-1A1F24E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head-0">
            <a:extLst xmlns:a="http://schemas.openxmlformats.org/drawingml/2006/main">
              <a:ext uri="{FF2B5EF4-FFF2-40B4-BE49-F238E27FC236}">
                <a16:creationId xmlns:a16="http://schemas.microsoft.com/office/drawing/2014/main" id="{CCDC23E8-2C98-44DA-B907-D646DAAF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Onboard</a:t>
            </a:r>
          </a:p>
        </p:txBody>
      </p:sp>
      <p:sp>
        <p:nvSpPr>
          <p:cNvPr id="8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651AB09E-2573-487A-AF48-9EA633AE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Broker, vendor,
license, approval</a:t>
            </a:r>
          </a:p>
        </p:txBody>
      </p:sp>
      <p:sp>
        <p:nvSpPr>
          <p:cNvPr id="9" name="timeline-num-0">
            <a:extLst xmlns:a="http://schemas.openxmlformats.org/drawingml/2006/main">
              <a:ext uri="{FF2B5EF4-FFF2-40B4-BE49-F238E27FC236}">
                <a16:creationId xmlns:a16="http://schemas.microsoft.com/office/drawing/2014/main" id="{0A8CDABC-B77F-4399-9F62-FEE60F2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AA10691A-D8AB-4483-B1AA-95CBECA6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4A96BBA4-0210-4CCA-A06F-D14457BF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2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BD937AE7-1171-4A62-A3A8-575BD27D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Borrower, parties,
identity, sanctions</a:t>
            </a:r>
          </a:p>
        </p:txBody>
      </p:sp>
      <p:sp>
        <p:nvSpPr>
          <p:cNvPr id="13" name="timeline-num-1">
            <a:extLst xmlns:a="http://schemas.openxmlformats.org/drawingml/2006/main">
              <a:ext uri="{FF2B5EF4-FFF2-40B4-BE49-F238E27FC236}">
                <a16:creationId xmlns:a16="http://schemas.microsoft.com/office/drawing/2014/main" id="{8BD2AFCE-E6CD-4A64-B8F5-16A600FF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D1E2F91B-7DD3-4F23-BCF6-1110897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FF8B7EA7-9CB2-4049-844C-71911E6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Underwrite</a:t>
            </a:r>
          </a:p>
        </p:txBody>
      </p:sp>
      <p:sp>
        <p:nvSpPr>
          <p:cNvPr id="16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2980C46-84AF-40B7-8018-FE37CCE3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Fraud alerts,
CAIVRS, eligibility</a:t>
            </a:r>
          </a:p>
        </p:txBody>
      </p:sp>
      <p:sp>
        <p:nvSpPr>
          <p:cNvPr id="17" name="timeline-num-2">
            <a:extLst xmlns:a="http://schemas.openxmlformats.org/drawingml/2006/main">
              <a:ext uri="{FF2B5EF4-FFF2-40B4-BE49-F238E27FC236}">
                <a16:creationId xmlns:a16="http://schemas.microsoft.com/office/drawing/2014/main" id="{89702CD3-197E-4907-A6D0-1F02D2AD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8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9C89BCD2-E858-4DE5-8963-35168FE6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line-head-3">
            <a:extLst xmlns:a="http://schemas.openxmlformats.org/drawingml/2006/main">
              <a:ext uri="{FF2B5EF4-FFF2-40B4-BE49-F238E27FC236}">
                <a16:creationId xmlns:a16="http://schemas.microsoft.com/office/drawing/2014/main" id="{49C9B125-3DE9-4B35-949D-C9105A47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Close/Fund</a:t>
            </a:r>
          </a:p>
        </p:txBody>
      </p:sp>
      <p:sp>
        <p:nvSpPr>
          <p:cNvPr id="20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86728FD7-9E6B-4E69-9CD5-8D0FF6F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OFAC refresh,
wire and party controls</a:t>
            </a:r>
          </a:p>
        </p:txBody>
      </p:sp>
      <p:sp>
        <p:nvSpPr>
          <p:cNvPr id="21" name="timeline-num-3">
            <a:extLst xmlns:a="http://schemas.openxmlformats.org/drawingml/2006/main">
              <a:ext uri="{FF2B5EF4-FFF2-40B4-BE49-F238E27FC236}">
                <a16:creationId xmlns:a16="http://schemas.microsoft.com/office/drawing/2014/main" id="{1CDC9083-F8EF-4FBA-AD67-FB62216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2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F58A1E16-2D24-498D-97C9-19F78F5A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line-head-4">
            <a:extLst xmlns:a="http://schemas.openxmlformats.org/drawingml/2006/main">
              <a:ext uri="{FF2B5EF4-FFF2-40B4-BE49-F238E27FC236}">
                <a16:creationId xmlns:a16="http://schemas.microsoft.com/office/drawing/2014/main" id="{38695E74-F877-4E49-8868-8F1AB45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</a:t>
            </a:r>
          </a:p>
        </p:txBody>
      </p:sp>
      <p:sp>
        <p:nvSpPr>
          <p:cNvPr id="24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C2DCA980-A992-43F7-A43D-BC507B37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Investor and GSE
eligibility checks</a:t>
            </a:r>
          </a:p>
        </p:txBody>
      </p:sp>
      <p:sp>
        <p:nvSpPr>
          <p:cNvPr id="25" name="timeline-num-4">
            <a:extLst xmlns:a="http://schemas.openxmlformats.org/drawingml/2006/main">
              <a:ext uri="{FF2B5EF4-FFF2-40B4-BE49-F238E27FC236}">
                <a16:creationId xmlns:a16="http://schemas.microsoft.com/office/drawing/2014/main" id="{9B3B503B-8240-4117-A6C8-9F043D05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6" name="timeline-dot-5">
            <a:extLst xmlns:a="http://schemas.openxmlformats.org/drawingml/2006/main">
              <a:ext uri="{FF2B5EF4-FFF2-40B4-BE49-F238E27FC236}">
                <a16:creationId xmlns:a16="http://schemas.microsoft.com/office/drawing/2014/main" id="{2BF1078B-EABA-4855-8FD9-67F22C4E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meline-head-5">
            <a:extLst xmlns:a="http://schemas.openxmlformats.org/drawingml/2006/main">
              <a:ext uri="{FF2B5EF4-FFF2-40B4-BE49-F238E27FC236}">
                <a16:creationId xmlns:a16="http://schemas.microsoft.com/office/drawing/2014/main" id="{66A85F6E-619E-4694-A3FE-C4B01FC4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431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</a:t>
            </a:r>
          </a:p>
        </p:txBody>
      </p:sp>
      <p:sp>
        <p:nvSpPr>
          <p:cNvPr id="28" name="timeline-body-5">
            <a:extLst xmlns:a="http://schemas.openxmlformats.org/drawingml/2006/main">
              <a:ext uri="{FF2B5EF4-FFF2-40B4-BE49-F238E27FC236}">
                <a16:creationId xmlns:a16="http://schemas.microsoft.com/office/drawing/2014/main" id="{BC2C9E8C-4D21-489E-AFE0-E890A87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00350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Monitoring,
payments, events</a:t>
            </a:r>
          </a:p>
        </p:txBody>
      </p:sp>
      <p:sp>
        <p:nvSpPr>
          <p:cNvPr id="29" name="timeline-num-5">
            <a:extLst xmlns:a="http://schemas.openxmlformats.org/drawingml/2006/main">
              <a:ext uri="{FF2B5EF4-FFF2-40B4-BE49-F238E27FC236}">
                <a16:creationId xmlns:a16="http://schemas.microsoft.com/office/drawing/2014/main" id="{DE4DC362-6FB6-4372-97B9-10E01DA4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0" name="bottom-panel">
            <a:extLst xmlns:a="http://schemas.openxmlformats.org/drawingml/2006/main">
              <a:ext uri="{FF2B5EF4-FFF2-40B4-BE49-F238E27FC236}">
                <a16:creationId xmlns:a16="http://schemas.microsoft.com/office/drawing/2014/main" id="{5A9BF660-6259-464F-AA4C-10074F9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1410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ottom">
            <a:extLst xmlns:a="http://schemas.openxmlformats.org/drawingml/2006/main">
              <a:ext uri="{FF2B5EF4-FFF2-40B4-BE49-F238E27FC236}">
                <a16:creationId xmlns:a16="http://schemas.microsoft.com/office/drawing/2014/main" id="{01908033-6F0E-4BEE-B414-103C8746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91125"/>
            <a:ext cx="1009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6565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 checks because sanctions lists update, transaction parties change, and fraud or investor issues can emerge after closing.</a:t>
            </a:r>
          </a:p>
        </p:txBody>
      </p:sp>
    </p:spTree>
    <p:extLst>
      <p:ext uri="{BB962C8B-B14F-4D97-AF65-F5344CB8AC3E}">
        <p14:creationId xmlns:p14="http://schemas.microsoft.com/office/powerpoint/2010/main" val="2094209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0B9DA8-6401-4646-A981-B474AF6C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Pre-Close and Post-Close Controls Differ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E4EE1B-BCF8-48CA-9ADC-67D1ADD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FF32BE7-6C13-4B7C-B217-95C78FB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3AA52E-23C1-4C14-9822-144638A6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screening ecosystem protects different decisions at different points in time.</a:t>
            </a:r>
          </a:p>
        </p:txBody>
      </p:sp>
      <p:sp>
        <p:nvSpPr>
          <p:cNvPr id="5" name="pre-panel">
            <a:extLst xmlns:a="http://schemas.openxmlformats.org/drawingml/2006/main">
              <a:ext uri="{FF2B5EF4-FFF2-40B4-BE49-F238E27FC236}">
                <a16:creationId xmlns:a16="http://schemas.microsoft.com/office/drawing/2014/main" id="{A24B6104-9888-4488-930E-E020986D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5353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-label">
            <a:extLst xmlns:a="http://schemas.openxmlformats.org/drawingml/2006/main">
              <a:ext uri="{FF2B5EF4-FFF2-40B4-BE49-F238E27FC236}">
                <a16:creationId xmlns:a16="http://schemas.microsoft.com/office/drawing/2014/main" id="{59F8836E-2E67-45C3-B7CD-4725E650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PRE-CLOSE</a:t>
            </a:r>
          </a:p>
        </p:txBody>
      </p:sp>
      <p:sp>
        <p:nvSpPr>
          <p:cNvPr id="7" name="pre-main">
            <a:extLst xmlns:a="http://schemas.openxmlformats.org/drawingml/2006/main">
              <a:ext uri="{FF2B5EF4-FFF2-40B4-BE49-F238E27FC236}">
                <a16:creationId xmlns:a16="http://schemas.microsoft.com/office/drawing/2014/main" id="{D2F5A1DE-8E47-4122-A116-608D747E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4095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3410"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we make this loan?</a:t>
            </a:r>
          </a:p>
        </p:txBody>
      </p:sp>
      <p:sp>
        <p:nvSpPr>
          <p:cNvPr id="8" name="pre-body">
            <a:extLst xmlns:a="http://schemas.openxmlformats.org/drawingml/2006/main">
              <a:ext uri="{FF2B5EF4-FFF2-40B4-BE49-F238E27FC236}">
                <a16:creationId xmlns:a16="http://schemas.microsoft.com/office/drawing/2014/main" id="{9AF399B5-313E-4962-87D4-A6220C4D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4305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1633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Avoid funding with sanctioned parties, excluded participants, unresolved fraud facts, ineligible borrowers, or unauthorized originators.</a:t>
            </a:r>
          </a:p>
        </p:txBody>
      </p:sp>
      <p:sp>
        <p:nvSpPr>
          <p:cNvPr id="9" name="post-panel">
            <a:extLst xmlns:a="http://schemas.openxmlformats.org/drawingml/2006/main">
              <a:ext uri="{FF2B5EF4-FFF2-40B4-BE49-F238E27FC236}">
                <a16:creationId xmlns:a16="http://schemas.microsoft.com/office/drawing/2014/main" id="{4842B285-8FAD-45CD-ADD1-8B8EEDB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66900"/>
            <a:ext cx="5353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st-label">
            <a:extLst xmlns:a="http://schemas.openxmlformats.org/drawingml/2006/main">
              <a:ext uri="{FF2B5EF4-FFF2-40B4-BE49-F238E27FC236}">
                <a16:creationId xmlns:a16="http://schemas.microsoft.com/office/drawing/2014/main" id="{0D95887F-4328-44B3-BA69-4714227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POST-CLOSE</a:t>
            </a:r>
          </a:p>
        </p:txBody>
      </p:sp>
      <p:sp>
        <p:nvSpPr>
          <p:cNvPr id="11" name="post-main">
            <a:extLst xmlns:a="http://schemas.openxmlformats.org/drawingml/2006/main">
              <a:ext uri="{FF2B5EF4-FFF2-40B4-BE49-F238E27FC236}">
                <a16:creationId xmlns:a16="http://schemas.microsoft.com/office/drawing/2014/main" id="{005A99D8-E31D-43D5-A4C5-CEEDE45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62250"/>
            <a:ext cx="4191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we sell, service, report, and keep it clean?</a:t>
            </a:r>
          </a:p>
        </p:txBody>
      </p:sp>
      <p:sp>
        <p:nvSpPr>
          <p:cNvPr id="12" name="post-body">
            <a:extLst xmlns:a="http://schemas.openxmlformats.org/drawingml/2006/main">
              <a:ext uri="{FF2B5EF4-FFF2-40B4-BE49-F238E27FC236}">
                <a16:creationId xmlns:a16="http://schemas.microsoft.com/office/drawing/2014/main" id="{F760F82F-FDC6-410C-B74E-95EBEBE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95750"/>
            <a:ext cx="4305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1941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Handle investor defects, fraud findings, sanctions changes, servicing restrictions, repurchase exposure, and reporting obligations.</a:t>
            </a:r>
          </a:p>
        </p:txBody>
      </p:sp>
      <p:sp>
        <p:nvSpPr>
          <p:cNvPr id="13" name="bottom">
            <a:extLst xmlns:a="http://schemas.openxmlformats.org/drawingml/2006/main">
              <a:ext uri="{FF2B5EF4-FFF2-40B4-BE49-F238E27FC236}">
                <a16:creationId xmlns:a16="http://schemas.microsoft.com/office/drawing/2014/main" id="{F8A40583-C068-4457-B897-0291DB56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67690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control evidence matters almost as much as the screen itself.</a:t>
            </a:r>
          </a:p>
        </p:txBody>
      </p:sp>
    </p:spTree>
    <p:extLst>
      <p:ext uri="{BB962C8B-B14F-4D97-AF65-F5344CB8AC3E}">
        <p14:creationId xmlns:p14="http://schemas.microsoft.com/office/powerpoint/2010/main" val="1678734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F84FE-6BE1-4928-A361-9A2968C8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Hit Needs a Controlled Disposition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64B9B3E-3D28-4F32-89EB-2B2BC3D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2992754-99E8-43C5-920D-A973AEE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69462A-26A5-4967-BDDD-6B6EC911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 the hit, verify the identity, then decide the disposition.</a:t>
            </a:r>
          </a:p>
        </p:txBody>
      </p:sp>
      <p:sp>
        <p:nvSpPr>
          <p:cNvPr id="5" name="step-panel-0">
            <a:extLst xmlns:a="http://schemas.openxmlformats.org/drawingml/2006/main">
              <a:ext uri="{FF2B5EF4-FFF2-40B4-BE49-F238E27FC236}">
                <a16:creationId xmlns:a16="http://schemas.microsoft.com/office/drawing/2014/main" id="{EC7C6ED5-D929-47B4-9650-8B877011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35623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5ED692C6-2716-41D8-95C2-74F8419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step-head-0">
            <a:extLst xmlns:a="http://schemas.openxmlformats.org/drawingml/2006/main">
              <a:ext uri="{FF2B5EF4-FFF2-40B4-BE49-F238E27FC236}">
                <a16:creationId xmlns:a16="http://schemas.microsoft.com/office/drawing/2014/main" id="{92A7CF36-A027-4265-A19F-D9CBA16A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5750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2CA1945E-0FE7-4840-903B-C880C33D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2895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What kind of hit is this? OFAC, fraud alert, exclusion, CAIVRS, licensing, or internal list?</a:t>
            </a:r>
          </a:p>
        </p:txBody>
      </p:sp>
      <p:sp>
        <p:nvSpPr>
          <p:cNvPr id="9" name="step-panel-1">
            <a:extLst xmlns:a="http://schemas.openxmlformats.org/drawingml/2006/main">
              <a:ext uri="{FF2B5EF4-FFF2-40B4-BE49-F238E27FC236}">
                <a16:creationId xmlns:a16="http://schemas.microsoft.com/office/drawing/2014/main" id="{CAF7F6CD-6587-4345-9EFB-9C93477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66900"/>
            <a:ext cx="35623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90612B35-4493-4E48-A10E-5512758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step-head-1">
            <a:extLst xmlns:a="http://schemas.openxmlformats.org/drawingml/2006/main">
              <a:ext uri="{FF2B5EF4-FFF2-40B4-BE49-F238E27FC236}">
                <a16:creationId xmlns:a16="http://schemas.microsoft.com/office/drawing/2014/main" id="{E3A1F7DF-A89A-4C96-A430-94E709C0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ADAD27C-4190-4827-A874-C3F23B01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2895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Is it a real match? Compare name, identifiers, role, address, entity details, and source data.</a:t>
            </a:r>
          </a:p>
        </p:txBody>
      </p:sp>
      <p:sp>
        <p:nvSpPr>
          <p:cNvPr id="13" name="step-panel-2">
            <a:extLst xmlns:a="http://schemas.openxmlformats.org/drawingml/2006/main">
              <a:ext uri="{FF2B5EF4-FFF2-40B4-BE49-F238E27FC236}">
                <a16:creationId xmlns:a16="http://schemas.microsoft.com/office/drawing/2014/main" id="{157A57F0-B5F8-4BF8-B3FC-458A5F78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66900"/>
            <a:ext cx="35623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B87592B9-06D3-4A83-875D-3B6E686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907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EA567DAD-030D-4253-BAA3-B4D2E7B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Dispose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C7E2521-FA4B-4D02-B86A-430E6FE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57600"/>
            <a:ext cx="2895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8174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Clear, request more info, escalate, remove party, suspend, block, report, notify, or stop.</a:t>
            </a:r>
          </a:p>
        </p:txBody>
      </p:sp>
      <p:sp>
        <p:nvSpPr>
          <p:cNvPr id="17" name="bottom">
            <a:extLst xmlns:a="http://schemas.openxmlformats.org/drawingml/2006/main">
              <a:ext uri="{FF2B5EF4-FFF2-40B4-BE49-F238E27FC236}">
                <a16:creationId xmlns:a16="http://schemas.microsoft.com/office/drawing/2014/main" id="{E653B178-55F3-4C91-A65F-1B0A9477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676900"/>
            <a:ext cx="1009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866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playbook changes by hit type, but the discipline does not: no silent clears and no ignored alerts.</a:t>
            </a:r>
          </a:p>
        </p:txBody>
      </p:sp>
    </p:spTree>
    <p:extLst>
      <p:ext uri="{BB962C8B-B14F-4D97-AF65-F5344CB8AC3E}">
        <p14:creationId xmlns:p14="http://schemas.microsoft.com/office/powerpoint/2010/main" val="140808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91A595-952D-4F98-BE57-E8CB444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Good Documentation Explains the Clearance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950C80B-FCAB-423F-B038-65DE33C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8C55A0D-958E-4978-8A4E-34E7FE4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8600FB-F047-470E-9BF2-4847ECD4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audit trail should make the decision understandable later.</a:t>
            </a:r>
          </a:p>
        </p:txBody>
      </p:sp>
      <p:sp>
        <p:nvSpPr>
          <p:cNvPr id="5" name="main">
            <a:extLst xmlns:a="http://schemas.openxmlformats.org/drawingml/2006/main">
              <a:ext uri="{FF2B5EF4-FFF2-40B4-BE49-F238E27FC236}">
                <a16:creationId xmlns:a16="http://schemas.microsoft.com/office/drawing/2014/main" id="{F0DE59C8-532A-4034-AA15-A196980C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Bad note:
Cleared.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A74A92CA-4A86-4081-9DF6-776F4D2A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6215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head">
            <a:extLst xmlns:a="http://schemas.openxmlformats.org/drawingml/2006/main">
              <a:ext uri="{FF2B5EF4-FFF2-40B4-BE49-F238E27FC236}">
                <a16:creationId xmlns:a16="http://schemas.microsoft.com/office/drawing/2014/main" id="{16B9A475-C611-48F0-9CEA-71C0E9C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better note answers:</a:t>
            </a:r>
          </a:p>
        </p:txBody>
      </p:sp>
      <p:sp>
        <p:nvSpPr>
          <p:cNvPr id="8" name="doc-box-0">
            <a:extLst xmlns:a="http://schemas.openxmlformats.org/drawingml/2006/main">
              <a:ext uri="{FF2B5EF4-FFF2-40B4-BE49-F238E27FC236}">
                <a16:creationId xmlns:a16="http://schemas.microsoft.com/office/drawing/2014/main" id="{BF40E53C-328E-4D80-8063-1FBEF949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0510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oc-line-0">
            <a:extLst xmlns:a="http://schemas.openxmlformats.org/drawingml/2006/main">
              <a:ext uri="{FF2B5EF4-FFF2-40B4-BE49-F238E27FC236}">
                <a16:creationId xmlns:a16="http://schemas.microsoft.com/office/drawing/2014/main" id="{BA509A5F-FB6C-4364-A394-B1AE646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9082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What hit occurred</a:t>
            </a:r>
          </a:p>
        </p:txBody>
      </p:sp>
      <p:sp>
        <p:nvSpPr>
          <p:cNvPr id="10" name="doc-box-1">
            <a:extLst xmlns:a="http://schemas.openxmlformats.org/drawingml/2006/main">
              <a:ext uri="{FF2B5EF4-FFF2-40B4-BE49-F238E27FC236}">
                <a16:creationId xmlns:a16="http://schemas.microsoft.com/office/drawing/2014/main" id="{D633BD13-FFBD-470A-9CF9-06D2C00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9565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doc-line-1">
            <a:extLst xmlns:a="http://schemas.openxmlformats.org/drawingml/2006/main">
              <a:ext uri="{FF2B5EF4-FFF2-40B4-BE49-F238E27FC236}">
                <a16:creationId xmlns:a16="http://schemas.microsoft.com/office/drawing/2014/main" id="{45FA3D11-8289-4422-AA21-AF52DB4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8137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Who or what matched</a:t>
            </a:r>
          </a:p>
        </p:txBody>
      </p:sp>
      <p:sp>
        <p:nvSpPr>
          <p:cNvPr id="12" name="doc-box-2">
            <a:extLst xmlns:a="http://schemas.openxmlformats.org/drawingml/2006/main">
              <a:ext uri="{FF2B5EF4-FFF2-40B4-BE49-F238E27FC236}">
                <a16:creationId xmlns:a16="http://schemas.microsoft.com/office/drawing/2014/main" id="{D89B8335-E4EE-4EF2-8235-BC04BFB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8620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oc-line-2">
            <a:extLst xmlns:a="http://schemas.openxmlformats.org/drawingml/2006/main">
              <a:ext uri="{FF2B5EF4-FFF2-40B4-BE49-F238E27FC236}">
                <a16:creationId xmlns:a16="http://schemas.microsoft.com/office/drawing/2014/main" id="{34741941-AEDC-4FAF-8570-AD73436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7192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758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Which identifiers matched or did not match</a:t>
            </a:r>
          </a:p>
        </p:txBody>
      </p:sp>
      <p:sp>
        <p:nvSpPr>
          <p:cNvPr id="14" name="doc-box-3">
            <a:extLst xmlns:a="http://schemas.openxmlformats.org/drawingml/2006/main">
              <a:ext uri="{FF2B5EF4-FFF2-40B4-BE49-F238E27FC236}">
                <a16:creationId xmlns:a16="http://schemas.microsoft.com/office/drawing/2014/main" id="{6746FC83-432D-4628-B29A-869121E7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7675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doc-line-3">
            <a:extLst xmlns:a="http://schemas.openxmlformats.org/drawingml/2006/main">
              <a:ext uri="{FF2B5EF4-FFF2-40B4-BE49-F238E27FC236}">
                <a16:creationId xmlns:a16="http://schemas.microsoft.com/office/drawing/2014/main" id="{1B5B0A83-BE47-4C54-BD9A-DCD324B2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6247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What evidence was reviewed</a:t>
            </a:r>
          </a:p>
        </p:txBody>
      </p:sp>
      <p:sp>
        <p:nvSpPr>
          <p:cNvPr id="16" name="doc-box-4">
            <a:extLst xmlns:a="http://schemas.openxmlformats.org/drawingml/2006/main">
              <a:ext uri="{FF2B5EF4-FFF2-40B4-BE49-F238E27FC236}">
                <a16:creationId xmlns:a16="http://schemas.microsoft.com/office/drawing/2014/main" id="{0BD23E07-540E-4892-A758-1F8B7FC1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0510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oc-line-4">
            <a:extLst xmlns:a="http://schemas.openxmlformats.org/drawingml/2006/main">
              <a:ext uri="{FF2B5EF4-FFF2-40B4-BE49-F238E27FC236}">
                <a16:creationId xmlns:a16="http://schemas.microsoft.com/office/drawing/2014/main" id="{29AAB951-4635-4FC3-8B05-629BB24B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9082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Who reviewed it</a:t>
            </a:r>
          </a:p>
        </p:txBody>
      </p:sp>
      <p:sp>
        <p:nvSpPr>
          <p:cNvPr id="18" name="doc-box-5">
            <a:extLst xmlns:a="http://schemas.openxmlformats.org/drawingml/2006/main">
              <a:ext uri="{FF2B5EF4-FFF2-40B4-BE49-F238E27FC236}">
                <a16:creationId xmlns:a16="http://schemas.microsoft.com/office/drawing/2014/main" id="{25FD89EA-02AC-4E27-AF55-84D2028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9565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doc-line-5">
            <a:extLst xmlns:a="http://schemas.openxmlformats.org/drawingml/2006/main">
              <a:ext uri="{FF2B5EF4-FFF2-40B4-BE49-F238E27FC236}">
                <a16:creationId xmlns:a16="http://schemas.microsoft.com/office/drawing/2014/main" id="{B485F255-1075-4D04-8813-D7E9552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8137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What policy or rule applied</a:t>
            </a:r>
          </a:p>
        </p:txBody>
      </p:sp>
      <p:sp>
        <p:nvSpPr>
          <p:cNvPr id="20" name="doc-box-6">
            <a:extLst xmlns:a="http://schemas.openxmlformats.org/drawingml/2006/main">
              <a:ext uri="{FF2B5EF4-FFF2-40B4-BE49-F238E27FC236}">
                <a16:creationId xmlns:a16="http://schemas.microsoft.com/office/drawing/2014/main" id="{02592ABF-3E4B-413E-AF1A-64C40202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8620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oc-line-6">
            <a:extLst xmlns:a="http://schemas.openxmlformats.org/drawingml/2006/main">
              <a:ext uri="{FF2B5EF4-FFF2-40B4-BE49-F238E27FC236}">
                <a16:creationId xmlns:a16="http://schemas.microsoft.com/office/drawing/2014/main" id="{07207518-42B7-4C37-B16C-59E165D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7192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What final action was taken</a:t>
            </a:r>
          </a:p>
        </p:txBody>
      </p:sp>
      <p:sp>
        <p:nvSpPr>
          <p:cNvPr id="22" name="doc-box-7">
            <a:extLst xmlns:a="http://schemas.openxmlformats.org/drawingml/2006/main">
              <a:ext uri="{FF2B5EF4-FFF2-40B4-BE49-F238E27FC236}">
                <a16:creationId xmlns:a16="http://schemas.microsoft.com/office/drawing/2014/main" id="{DFE61D17-61FC-43DD-B517-D1CF971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76750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doc-line-7">
            <a:extLst xmlns:a="http://schemas.openxmlformats.org/drawingml/2006/main">
              <a:ext uri="{FF2B5EF4-FFF2-40B4-BE49-F238E27FC236}">
                <a16:creationId xmlns:a16="http://schemas.microsoft.com/office/drawing/2014/main" id="{AEEA6A74-AD18-43E9-B59D-13998D43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Why the file is cleared or not cleared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EBBD31CC-0686-479B-B11F-5B624B60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65785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If the note cannot explain the clearance, the file is not truly clear.</a:t>
            </a:r>
          </a:p>
        </p:txBody>
      </p:sp>
    </p:spTree>
    <p:extLst>
      <p:ext uri="{BB962C8B-B14F-4D97-AF65-F5344CB8AC3E}">
        <p14:creationId xmlns:p14="http://schemas.microsoft.com/office/powerpoint/2010/main" val="1877342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C81FE-6344-41B8-8454-FEC0BE4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Resolve, Escalate, or Stop Each Hit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3AF0A2C-F62E-4CFF-858D-A91EAA2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9852C25-4D28-44AC-B332-97514AE7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02E55D-A0D0-424B-B034-8B7E4755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hit should never become ignored.</a:t>
            </a:r>
          </a:p>
        </p:txBody>
      </p:sp>
      <p:sp>
        <p:nvSpPr>
          <p:cNvPr id="5" name="habit-panel-0">
            <a:extLst xmlns:a="http://schemas.openxmlformats.org/drawingml/2006/main">
              <a:ext uri="{FF2B5EF4-FFF2-40B4-BE49-F238E27FC236}">
                <a16:creationId xmlns:a16="http://schemas.microsoft.com/office/drawing/2014/main" id="{3FFA2EC0-83A5-462C-8FA9-F7009CC3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623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abit-title-0">
            <a:extLst xmlns:a="http://schemas.openxmlformats.org/drawingml/2006/main">
              <a:ext uri="{FF2B5EF4-FFF2-40B4-BE49-F238E27FC236}">
                <a16:creationId xmlns:a16="http://schemas.microsoft.com/office/drawing/2014/main" id="{4AF51FF3-D7F0-4297-9D10-711BDA1B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Resolved</a:t>
            </a:r>
          </a:p>
        </p:txBody>
      </p:sp>
      <p:sp>
        <p:nvSpPr>
          <p:cNvPr id="7" name="habit-body-0">
            <a:extLst xmlns:a="http://schemas.openxmlformats.org/drawingml/2006/main">
              <a:ext uri="{FF2B5EF4-FFF2-40B4-BE49-F238E27FC236}">
                <a16:creationId xmlns:a16="http://schemas.microsoft.com/office/drawing/2014/main" id="{DA1C27EB-06E3-48FE-8D2A-B3F0535F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2838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False positive or cleared with evidence</a:t>
            </a:r>
          </a:p>
        </p:txBody>
      </p:sp>
      <p:sp>
        <p:nvSpPr>
          <p:cNvPr id="8" name="habit-panel-1">
            <a:extLst xmlns:a="http://schemas.openxmlformats.org/drawingml/2006/main">
              <a:ext uri="{FF2B5EF4-FFF2-40B4-BE49-F238E27FC236}">
                <a16:creationId xmlns:a16="http://schemas.microsoft.com/office/drawing/2014/main" id="{047AA8A4-1ED7-4662-B218-4EA9F12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623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bit-title-1">
            <a:extLst xmlns:a="http://schemas.openxmlformats.org/drawingml/2006/main">
              <a:ext uri="{FF2B5EF4-FFF2-40B4-BE49-F238E27FC236}">
                <a16:creationId xmlns:a16="http://schemas.microsoft.com/office/drawing/2014/main" id="{196EE30D-9C4A-47B2-A67B-E56A89E7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Escalated</a:t>
            </a:r>
          </a:p>
        </p:txBody>
      </p:sp>
      <p:sp>
        <p:nvSpPr>
          <p:cNvPr id="10" name="habit-body-1">
            <a:extLst xmlns:a="http://schemas.openxmlformats.org/drawingml/2006/main">
              <a:ext uri="{FF2B5EF4-FFF2-40B4-BE49-F238E27FC236}">
                <a16:creationId xmlns:a16="http://schemas.microsoft.com/office/drawing/2014/main" id="{06C83F74-B0B1-43FA-B527-BD6165D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2838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Compliance, fraud, AML, legal, investor, or agency path</a:t>
            </a:r>
          </a:p>
        </p:txBody>
      </p:sp>
      <p:sp>
        <p:nvSpPr>
          <p:cNvPr id="11" name="habit-panel-2">
            <a:extLst xmlns:a="http://schemas.openxmlformats.org/drawingml/2006/main">
              <a:ext uri="{FF2B5EF4-FFF2-40B4-BE49-F238E27FC236}">
                <a16:creationId xmlns:a16="http://schemas.microsoft.com/office/drawing/2014/main" id="{FFFC4147-A6C8-48B4-8C93-82A11484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35623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bit-title-2">
            <a:extLst xmlns:a="http://schemas.openxmlformats.org/drawingml/2006/main">
              <a:ext uri="{FF2B5EF4-FFF2-40B4-BE49-F238E27FC236}">
                <a16:creationId xmlns:a16="http://schemas.microsoft.com/office/drawing/2014/main" id="{DD352B29-4F3E-4545-B52C-D39D7FC5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7650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Stopped</a:t>
            </a:r>
          </a:p>
        </p:txBody>
      </p:sp>
      <p:sp>
        <p:nvSpPr>
          <p:cNvPr id="13" name="habit-body-2">
            <a:extLst xmlns:a="http://schemas.openxmlformats.org/drawingml/2006/main">
              <a:ext uri="{FF2B5EF4-FFF2-40B4-BE49-F238E27FC236}">
                <a16:creationId xmlns:a16="http://schemas.microsoft.com/office/drawing/2014/main" id="{3C1B10AB-5DA6-481E-92ED-99254BB3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76600"/>
            <a:ext cx="2838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117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Suspended, blocked, rejected, declined, removed, or not eligible</a:t>
            </a:r>
          </a:p>
        </p:txBody>
      </p:sp>
      <p:sp>
        <p:nvSpPr>
          <p:cNvPr id="14" name="not">
            <a:extLst xmlns:a="http://schemas.openxmlformats.org/drawingml/2006/main">
              <a:ext uri="{FF2B5EF4-FFF2-40B4-BE49-F238E27FC236}">
                <a16:creationId xmlns:a16="http://schemas.microsoft.com/office/drawing/2014/main" id="{72153440-4C3C-485F-B46A-340420F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6096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Not an option: ignored.</a:t>
            </a:r>
          </a:p>
        </p:txBody>
      </p:sp>
      <p:sp>
        <p:nvSpPr>
          <p:cNvPr id="15" name="close">
            <a:extLst xmlns:a="http://schemas.openxmlformats.org/drawingml/2006/main">
              <a:ext uri="{FF2B5EF4-FFF2-40B4-BE49-F238E27FC236}">
                <a16:creationId xmlns:a16="http://schemas.microsoft.com/office/drawing/2014/main" id="{A5174ECC-2756-4007-BE09-4BF32E2D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476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9414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Screening only works when every alert has an owner, a rule, evidence, and a disposition.</a:t>
            </a:r>
          </a:p>
        </p:txBody>
      </p:sp>
    </p:spTree>
    <p:extLst>
      <p:ext uri="{BB962C8B-B14F-4D97-AF65-F5344CB8AC3E}">
        <p14:creationId xmlns:p14="http://schemas.microsoft.com/office/powerpoint/2010/main" val="1934443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A79A20-45E2-4F82-846A-4EDF15CC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Current Official Sources Before You Rely on a List</a:t>
            </a:r>
          </a:p>
        </p:txBody>
      </p:sp>
      <p:sp>
        <p:nvSpPr>
          <p:cNvPr id="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A829CF-55F2-4C2E-A280-7B03EF6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controls</a:t>
            </a:r>
          </a:p>
        </p:txBody>
      </p:sp>
      <p:sp>
        <p:nvSpPr>
          <p:cNvPr id="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0C81973-4B88-476D-A90F-47D1A07F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 / 13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D91720-77F9-4101-9CDC-FD3D7350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90650"/>
            <a:ext cx="9144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27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List content and program requirements change. Production decisions should rely on live systems and current policy.</a:t>
            </a:r>
          </a:p>
        </p:txBody>
      </p:sp>
      <p:sp>
        <p:nvSpPr>
          <p:cNvPr id="5" name="sources-panel">
            <a:extLst xmlns:a="http://schemas.openxmlformats.org/drawingml/2006/main">
              <a:ext uri="{FF2B5EF4-FFF2-40B4-BE49-F238E27FC236}">
                <a16:creationId xmlns:a16="http://schemas.microsoft.com/office/drawing/2014/main" id="{A0BB3E61-F01B-41F3-A95A-04CED04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7850"/>
            <a:ext cx="11410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name-0">
            <a:extLst xmlns:a="http://schemas.openxmlformats.org/drawingml/2006/main">
              <a:ext uri="{FF2B5EF4-FFF2-40B4-BE49-F238E27FC236}">
                <a16:creationId xmlns:a16="http://schemas.microsoft.com/office/drawing/2014/main" id="{2572CF82-C9E1-4177-8801-F44AA28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OFAC</a:t>
            </a:r>
          </a:p>
        </p:txBody>
      </p:sp>
      <p:sp>
        <p:nvSpPr>
          <p:cNvPr id="7" name="source-desc-0">
            <a:extLst xmlns:a="http://schemas.openxmlformats.org/drawingml/2006/main">
              <a:ext uri="{FF2B5EF4-FFF2-40B4-BE49-F238E27FC236}">
                <a16:creationId xmlns:a16="http://schemas.microsoft.com/office/drawing/2014/main" id="{DB8DDA19-A056-4443-9F8C-BF60D3DA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1455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Sanctions List Service and Sanctions List Search</a:t>
            </a:r>
          </a:p>
        </p:txBody>
      </p:sp>
      <p:sp>
        <p:nvSpPr>
          <p:cNvPr id="8" name="source-name-1">
            <a:extLst xmlns:a="http://schemas.openxmlformats.org/drawingml/2006/main">
              <a:ext uri="{FF2B5EF4-FFF2-40B4-BE49-F238E27FC236}">
                <a16:creationId xmlns:a16="http://schemas.microsoft.com/office/drawing/2014/main" id="{726606E5-A9F2-4B0A-8A20-875E3E5F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FinCEN</a:t>
            </a:r>
          </a:p>
        </p:txBody>
      </p:sp>
      <p:sp>
        <p:nvSpPr>
          <p:cNvPr id="9" name="source-desc-1">
            <a:extLst xmlns:a="http://schemas.openxmlformats.org/drawingml/2006/main">
              <a:ext uri="{FF2B5EF4-FFF2-40B4-BE49-F238E27FC236}">
                <a16:creationId xmlns:a16="http://schemas.microsoft.com/office/drawing/2014/main" id="{A0495AD6-B4F5-4AE2-9DD8-6985F3F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AML program and SAR resources for mortgage companies and brokers</a:t>
            </a:r>
          </a:p>
        </p:txBody>
      </p:sp>
      <p:sp>
        <p:nvSpPr>
          <p:cNvPr id="10" name="source-name-2">
            <a:extLst xmlns:a="http://schemas.openxmlformats.org/drawingml/2006/main">
              <a:ext uri="{FF2B5EF4-FFF2-40B4-BE49-F238E27FC236}">
                <a16:creationId xmlns:a16="http://schemas.microsoft.com/office/drawing/2014/main" id="{19071B9D-07A0-430A-890C-CA7015D8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HUD / SAM</a:t>
            </a:r>
          </a:p>
        </p:txBody>
      </p:sp>
      <p:sp>
        <p:nvSpPr>
          <p:cNvPr id="11" name="source-desc-2">
            <a:extLst xmlns:a="http://schemas.openxmlformats.org/drawingml/2006/main">
              <a:ext uri="{FF2B5EF4-FFF2-40B4-BE49-F238E27FC236}">
                <a16:creationId xmlns:a16="http://schemas.microsoft.com/office/drawing/2014/main" id="{5B68159B-B7BD-41B2-B6DB-49B517C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HUD LDP, CAIVRS, and SAM.gov exclusions</a:t>
            </a:r>
          </a:p>
        </p:txBody>
      </p:sp>
      <p:sp>
        <p:nvSpPr>
          <p:cNvPr id="12" name="source-name-3">
            <a:extLst xmlns:a="http://schemas.openxmlformats.org/drawingml/2006/main">
              <a:ext uri="{FF2B5EF4-FFF2-40B4-BE49-F238E27FC236}">
                <a16:creationId xmlns:a16="http://schemas.microsoft.com/office/drawing/2014/main" id="{8FD1D98E-7978-4DCD-9AF3-02C9B37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FHFA / GSEs</a:t>
            </a:r>
          </a:p>
        </p:txBody>
      </p:sp>
      <p:sp>
        <p:nvSpPr>
          <p:cNvPr id="13" name="source-desc-3">
            <a:extLst xmlns:a="http://schemas.openxmlformats.org/drawingml/2006/main">
              <a:ext uri="{FF2B5EF4-FFF2-40B4-BE49-F238E27FC236}">
                <a16:creationId xmlns:a16="http://schemas.microsoft.com/office/drawing/2014/main" id="{4E205618-0941-43CA-83A0-7BD6C547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5760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FHFA Suspended Counterparty Program plus Fannie Mae and Freddie Mac guides</a:t>
            </a:r>
          </a:p>
        </p:txBody>
      </p:sp>
      <p:sp>
        <p:nvSpPr>
          <p:cNvPr id="14" name="source-name-4">
            <a:extLst xmlns:a="http://schemas.openxmlformats.org/drawingml/2006/main">
              <a:ext uri="{FF2B5EF4-FFF2-40B4-BE49-F238E27FC236}">
                <a16:creationId xmlns:a16="http://schemas.microsoft.com/office/drawing/2014/main" id="{3E9335DE-E927-4775-9DCC-4EE6792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NMLS</a:t>
            </a:r>
          </a:p>
        </p:txBody>
      </p:sp>
      <p:sp>
        <p:nvSpPr>
          <p:cNvPr id="15" name="source-desc-4">
            <a:extLst xmlns:a="http://schemas.openxmlformats.org/drawingml/2006/main">
              <a:ext uri="{FF2B5EF4-FFF2-40B4-BE49-F238E27FC236}">
                <a16:creationId xmlns:a16="http://schemas.microsoft.com/office/drawing/2014/main" id="{47552EDE-F53E-4242-8E97-5EFEF17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Consumer Access licensing checks</a:t>
            </a:r>
          </a:p>
        </p:txBody>
      </p:sp>
      <p:sp>
        <p:nvSpPr>
          <p:cNvPr id="16" name="source-name-5">
            <a:extLst xmlns:a="http://schemas.openxmlformats.org/drawingml/2006/main">
              <a:ext uri="{FF2B5EF4-FFF2-40B4-BE49-F238E27FC236}">
                <a16:creationId xmlns:a16="http://schemas.microsoft.com/office/drawing/2014/main" id="{61D586E5-35DD-492F-B16D-2E81F12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CFPB</a:t>
            </a:r>
          </a:p>
        </p:txBody>
      </p:sp>
      <p:sp>
        <p:nvSpPr>
          <p:cNvPr id="17" name="source-desc-5">
            <a:extLst xmlns:a="http://schemas.openxmlformats.org/drawingml/2006/main">
              <a:ext uri="{FF2B5EF4-FFF2-40B4-BE49-F238E27FC236}">
                <a16:creationId xmlns:a16="http://schemas.microsoft.com/office/drawing/2014/main" id="{D26FA325-C004-4CB7-8437-45241DF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8630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Regulation V and Regulation B resources for consumer-report/adverse-action context</a:t>
            </a:r>
          </a:p>
        </p:txBody>
      </p:sp>
      <p:sp>
        <p:nvSpPr>
          <p:cNvPr id="18" name="bottom-source-note">
            <a:extLst xmlns:a="http://schemas.openxmlformats.org/drawingml/2006/main">
              <a:ext uri="{FF2B5EF4-FFF2-40B4-BE49-F238E27FC236}">
                <a16:creationId xmlns:a16="http://schemas.microsoft.com/office/drawing/2014/main" id="{10F8FD3C-D700-4CE1-A619-618C8B61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29300"/>
            <a:ext cx="1019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936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This deck is an intuition aid. Compliance teams should use current investor guides, agency rules, vendor procedures, internal policy, and counsel.</a:t>
            </a:r>
          </a:p>
        </p:txBody>
      </p:sp>
    </p:spTree>
    <p:extLst>
      <p:ext uri="{BB962C8B-B14F-4D97-AF65-F5344CB8AC3E}">
        <p14:creationId xmlns:p14="http://schemas.microsoft.com/office/powerpoint/2010/main" val="1748095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2026-07-06T09:09:15.2460000Z</dcterms:created>
  <dcterms:modified xsi:type="dcterms:W3CDTF">2026-07-06T09:09:15.2460000Z</dcterms:modified>
</coreProperties>
</file>